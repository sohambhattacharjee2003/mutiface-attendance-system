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2B53"/>
                </a:solidFill>
              </a:rPr>
              <a:t>PresenceAI</a:t>
            </a:r>
          </a:p>
          <a:p>
            <a:pPr algn="ctr"/>
            <a:r>
              <a:rPr sz="1700">
                <a:solidFill>
                  <a:srgbClr val="1F77C2"/>
                </a:solidFill>
              </a:rPr>
              <a:t>Spoof-Resistant Multi-Face Attendance with Liveness-Gated Commit</a:t>
            </a:r>
          </a:p>
          <a:p>
            <a:pPr algn="ctr"/>
            <a:r>
              <a:rPr sz="1300" i="1">
                <a:solidFill>
                  <a:srgbClr val="5B6676"/>
                </a:solidFill>
              </a:rPr>
              <a:t>Automatic Attendance System using Multiple Face Recognition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360" y="2743200"/>
            <a:ext cx="6400800" cy="54864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971800" y="2807208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</a:rPr>
              <a:t>A printed photo defeats face recognition 100% of the time. We measured it — and fixed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11880"/>
            <a:ext cx="749807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42B53"/>
                </a:solidFill>
              </a:rPr>
              <a:t>Team Members' Name and Roll Number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A35"/>
                </a:solidFill>
              </a:rPr>
              <a:t>1. Souryadeep Deb (13000222064)              2. Soham Bhattacharya (13000222065)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A35"/>
                </a:solidFill>
              </a:rPr>
              <a:t>3. Srija Basak (13000222066)                  4. Sneha Singh (13000222067)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2A35"/>
                </a:solidFill>
              </a:rPr>
              <a:t>Group Number — 18                Mentor — Mr Prodipta Bhowmik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57784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42B53"/>
                </a:solidFill>
              </a:rPr>
              <a:t>Department of Information Technology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Techno Main Salt Lake, Kolkata - 700091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Manual attendance is the obvious problem. Automating it with face recognition creates a second one that nobody measures.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577840" cy="178308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16736"/>
            <a:ext cx="52120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42B53"/>
                </a:solidFill>
              </a:rPr>
              <a:t>The obvious problem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A 60-student roll-call costs ~5 minutes of every lecture — roughly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80 teaching hours across a 200-day year.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It is slow, error-prone, and a friend can sign the register for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440680" cy="178308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316736"/>
            <a:ext cx="5074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The problem nobody in the literature measures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Face recognition is DESIGNED to give a photo of you the same embedding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as you. That is exactly what makes it a good face model.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So recognition ALONE cannot prevent proxy attendance. We tested it: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a printed photo was marked present 100% of the time.</a:t>
            </a:r>
          </a:p>
        </p:txBody>
      </p:sp>
      <p:pic>
        <p:nvPicPr>
          <p:cNvPr id="9" name="Picture 8" descr="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3063240"/>
            <a:ext cx="9326880" cy="2590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5303520"/>
            <a:ext cx="2697480" cy="105156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85216" y="53766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C0392B"/>
                </a:solidFill>
              </a:rPr>
              <a:t>PRESENTATION ATTACK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A photo or phone screen held to</a:t>
            </a:r>
            <a:br/>
            <a:r>
              <a:rPr sz="850" b="0">
                <a:solidFill>
                  <a:srgbClr val="222A35"/>
                </a:solidFill>
              </a:rPr>
              <a:t>the camera is marked present.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5303520"/>
            <a:ext cx="2697480" cy="105156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56432" y="53766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B97A0B"/>
                </a:solidFill>
              </a:rPr>
              <a:t>NO WAY TO SAY 'NOBODY'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A softmax must always name someone.</a:t>
            </a:r>
            <a:br/>
            <a:r>
              <a:rPr sz="850" b="0">
                <a:solidFill>
                  <a:srgbClr val="222A35"/>
                </a:solidFill>
              </a:rPr>
              <a:t>A stranger walking past gets a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5303520"/>
            <a:ext cx="2697480" cy="105156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27648" y="53766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B97A0B"/>
                </a:solidFill>
              </a:rPr>
              <a:t>THE BACK OF THE ROOM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Too few pixels to identify — but the</a:t>
            </a:r>
            <a:br/>
            <a:r>
              <a:rPr sz="850" b="0">
                <a:solidFill>
                  <a:srgbClr val="222A35"/>
                </a:solidFill>
              </a:rPr>
              <a:t>model still answers, confidently.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0848" y="5303520"/>
            <a:ext cx="2697480" cy="105156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98864" y="53766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1F77C2"/>
                </a:solidFill>
              </a:rPr>
              <a:t>AN IRREVERSIBLE WRITE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Written once per day. One bad frame</a:t>
            </a:r>
            <a:br/>
            <a:r>
              <a:rPr sz="850" b="0">
                <a:solidFill>
                  <a:srgbClr val="222A35"/>
                </a:solidFill>
              </a:rPr>
              <a:t>marks the wrong student all 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PROPOSED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Separate RECOGNISING a face from MARKING that person PRESENT. They are not the same decision.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623560" cy="210312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16736"/>
            <a:ext cx="52578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142B53"/>
                </a:solidFill>
              </a:rPr>
              <a:t>How it works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Every face in the frame is detected (RetinaFace), embedded into a 512-d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vector (ArcFace), and compared against each enrolled student's centroid.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A face must then clear FOUR gates — size, threshold, margin and liveness —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and be confirmed across several frames before attendance is written.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Records go to CSV. Nothing ever leaves the machine.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440680" cy="210312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316736"/>
            <a:ext cx="50749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E8E5A"/>
                </a:solidFill>
              </a:rPr>
              <a:t>Innovation and uniqueness — stated honestly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We do NOT claim a new face-recognition model.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ArcFace is pretrained and frozen. Training our own on 30 students would need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a GPU and thousands of images per person — and would still name a stranger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every single time, because a softmax cannot abstain.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8E5A"/>
                </a:solidFill>
              </a:rPr>
              <a:t>Our contribution is the DECISION LAYER, and the evaluation of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91840"/>
            <a:ext cx="2697480" cy="141732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3364992"/>
            <a:ext cx="2450592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750" b="1">
                <a:solidFill>
                  <a:srgbClr val="C0392B"/>
                </a:solidFill>
              </a:rPr>
              <a:t>LIVENESS THAT FITS THE HARDWARE</a:t>
            </a:r>
          </a:p>
          <a:p>
            <a:pPr>
              <a:spcAft>
                <a:spcPts val="400"/>
              </a:spcAft>
            </a:pPr>
            <a:r>
              <a:rPr sz="750" b="0">
                <a:solidFill>
                  <a:srgbClr val="222A35"/>
                </a:solidFill>
              </a:rPr>
              <a:t>Blink detection is the standard trick — but a blink lasts 0.3 s and we sample 1.4 frames/s. We measured it failing. So we measure facial motion from landmarks the detector already produces: a live face keeps deforming, a photo is rigid. Rotation and scale are normalised out, so waving the photo does not help the attacker. No extra model, no GPU.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3291840"/>
            <a:ext cx="2697480" cy="141732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56432" y="3364992"/>
            <a:ext cx="2450592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750" b="1">
                <a:solidFill>
                  <a:srgbClr val="1F77C2"/>
                </a:solidFill>
              </a:rPr>
              <a:t>A THRESHOLD FROM DATA, NOT A GUESS</a:t>
            </a:r>
          </a:p>
          <a:p>
            <a:pPr>
              <a:spcAft>
                <a:spcPts val="400"/>
              </a:spcAft>
            </a:pPr>
            <a:r>
              <a:rPr sz="750" b="0">
                <a:solidFill>
                  <a:srgbClr val="222A35"/>
                </a:solidFill>
              </a:rPr>
              <a:t>Calibrated against 2,880 held-out impostor faces at a 1% target false-accept rate. Every attendance paper we reviewed either hand-picks this number or never mentions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3291840"/>
            <a:ext cx="2697480" cy="141732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3364992"/>
            <a:ext cx="2450592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750" b="1">
                <a:solidFill>
                  <a:srgbClr val="B97A0B"/>
                </a:solidFill>
              </a:rPr>
              <a:t>ATTENDANCE AS AN IRREVERSIBLE COMMIT</a:t>
            </a:r>
          </a:p>
          <a:p>
            <a:pPr>
              <a:spcAft>
                <a:spcPts val="400"/>
              </a:spcAft>
            </a:pPr>
            <a:r>
              <a:rPr sz="750" b="0">
                <a:solidFill>
                  <a:srgbClr val="222A35"/>
                </a:solidFill>
              </a:rPr>
              <a:t>The write happens once per day and cannot be undone, so it accumulates evidence across frames instead of trusting one. No prior work separates these two decisions.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3291840"/>
            <a:ext cx="2697480" cy="141732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98864" y="3364992"/>
            <a:ext cx="2450592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750" b="1">
                <a:solidFill>
                  <a:srgbClr val="1E8E5A"/>
                </a:solidFill>
              </a:rPr>
              <a:t>ENROLMENT IN 1.4 SECONDS</a:t>
            </a:r>
          </a:p>
          <a:p>
            <a:pPr>
              <a:spcAft>
                <a:spcPts val="400"/>
              </a:spcAft>
            </a:pPr>
            <a:r>
              <a:rPr sz="750" b="0">
                <a:solidFill>
                  <a:srgbClr val="222A35"/>
                </a:solidFill>
              </a:rPr>
              <a:t>Embeddings are cached, so a new student costs only their own photos — not a full re-embed of the dataset, which took 607 s.</a:t>
            </a:r>
          </a:p>
        </p:txBody>
      </p:sp>
      <p:pic>
        <p:nvPicPr>
          <p:cNvPr id="17" name="Picture 1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00600"/>
            <a:ext cx="11247120" cy="352083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PROPOSED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A · The model is frozen — 'learning' a student means storing one vector.   B · Four gates decide who is actually present.</a:t>
            </a:r>
          </a:p>
        </p:txBody>
      </p:sp>
      <p:pic>
        <p:nvPicPr>
          <p:cNvPr id="5" name="Picture 4" descr="methodology_en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11247120" cy="3423037"/>
          </a:xfrm>
          <a:prstGeom prst="rect">
            <a:avLst/>
          </a:prstGeom>
        </p:spPr>
      </p:pic>
      <p:pic>
        <p:nvPicPr>
          <p:cNvPr id="6" name="Picture 5" descr="methodology_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03320"/>
            <a:ext cx="11247120" cy="42054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144768"/>
            <a:ext cx="11247120" cy="256032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1792" y="6153912"/>
            <a:ext cx="10881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C0392B"/>
                </a:solidFill>
              </a:rPr>
              <a:t>The classifier has no 'I don't know' option — it ALWAYS outputs a name. Every gate exists because a confident answer from a bad input is worse than no answer at 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EXPERIMENTAL SETUP &amp; 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The splits are what make the numbers believable — and they are not optional.</a:t>
            </a:r>
          </a:p>
        </p:txBody>
      </p:sp>
      <p:pic>
        <p:nvPicPr>
          <p:cNvPr id="5" name="Picture 4" descr="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8189259" cy="2651760"/>
          </a:xfrm>
          <a:prstGeom prst="rect">
            <a:avLst/>
          </a:prstGeom>
        </p:spPr>
      </p:pic>
      <p:pic>
        <p:nvPicPr>
          <p:cNvPr id="6" name="Picture 5" descr="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77639"/>
            <a:ext cx="4171556" cy="2240280"/>
          </a:xfrm>
          <a:prstGeom prst="rect">
            <a:avLst/>
          </a:prstGeom>
        </p:spPr>
      </p:pic>
      <p:pic>
        <p:nvPicPr>
          <p:cNvPr id="7" name="Picture 6" descr="r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977639"/>
            <a:ext cx="3399046" cy="2240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0" y="3977639"/>
            <a:ext cx="3017520" cy="224028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51392" y="4087368"/>
            <a:ext cx="274320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142B53"/>
                </a:solidFill>
              </a:rPr>
              <a:t>What these two charts prove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The genuine and impostor populations are almost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completely separated — which is what lets a single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cosine threshold work at all.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The threshold is placed where only 1% of the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CALIBRATION strangers get through, then measured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on strangers it has never seen.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C0392B"/>
                </a:solidFill>
              </a:rPr>
              <a:t>That is the difference between a measurement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C0392B"/>
                </a:solidFill>
              </a:rPr>
              <a:t>and a number you tuned until it looked good.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188720"/>
            <a:ext cx="3017520" cy="265176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51392" y="1298448"/>
            <a:ext cx="27432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C0392B"/>
                </a:solidFill>
              </a:rPr>
              <a:t>Why the 2 real users are NOT the experiment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With N=2, chance alone scores 50%. Any accuracy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figure taken from two people is meaningless.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Every quantitative claim in this deck comes from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the 30-identity cohort. The live system with 2 real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users is a feasibility demonstration — and we say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so, rather than inflate it.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42B53"/>
                </a:solidFill>
              </a:rPr>
              <a:t>Environment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MacBook Air · CPU only · no GPU · 298 MB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RESULTS AND ANALYSIS  (1 / 2)  — 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Can a photograph fool it? And what does each guard actually buy?</a:t>
            </a:r>
          </a:p>
        </p:txBody>
      </p:sp>
      <p:pic>
        <p:nvPicPr>
          <p:cNvPr id="5" name="Picture 4" descr="sp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3153103" cy="2286000"/>
          </a:xfrm>
          <a:prstGeom prst="rect">
            <a:avLst/>
          </a:prstGeom>
        </p:spPr>
      </p:pic>
      <p:pic>
        <p:nvPicPr>
          <p:cNvPr id="6" name="Picture 5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4414345" cy="2286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418320" y="1234440"/>
            <a:ext cx="2286000" cy="228600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555480" y="1335024"/>
            <a:ext cx="20116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C0392B"/>
                </a:solidFill>
              </a:rPr>
              <a:t>Motion score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photo (hand-held)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C0392B"/>
                </a:solidFill>
              </a:rPr>
              <a:t>0.015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Arnab, live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0.066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Soham, live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0.135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22A35"/>
                </a:solidFill>
              </a:rPr>
              <a:t>threshold  0.035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794760"/>
          <a:ext cx="6949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FAR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Wrong records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Baseline (fixed threshold 0.32)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3.54%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+ Calibrated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1.01%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+ Top-2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1.01%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+ Temporal voting   (shipped)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86.3%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0.00%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680960" y="3794760"/>
            <a:ext cx="4023360" cy="224028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45552" y="3904487"/>
            <a:ext cx="3749039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B97A0B"/>
                </a:solidFill>
              </a:rPr>
              <a:t>A guard that did NOT work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We built the top-2 margin to catch look-alike students.</a:t>
            </a:r>
          </a:p>
          <a:p>
            <a:pPr>
              <a:spcAft>
                <a:spcPts val="400"/>
              </a:spcAft>
            </a:pPr>
            <a:r>
              <a:rPr sz="900" b="1">
                <a:solidFill>
                  <a:srgbClr val="222A35"/>
                </a:solidFill>
              </a:rPr>
              <a:t>On this cohort it changed nothing — FAR stayed at 0.20%, and accuracy fell slightly.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Why: accuracy and TAR are identical in every row, meaning the system never once put the WRONG student's name on a face. Every error was a rejection, not a mix-up — so the margin had nothing to catch.</a:t>
            </a:r>
          </a:p>
          <a:p>
            <a:pPr>
              <a:spcAft>
                <a:spcPts val="400"/>
              </a:spcAft>
            </a:pPr>
            <a:r>
              <a:rPr sz="900" b="1">
                <a:solidFill>
                  <a:srgbClr val="C0392B"/>
                </a:solidFill>
              </a:rPr>
              <a:t>We report it anyway. A result that only ever goes your way is not a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RESULTS AND ANALYSIS  (2 / 2)  —  Envelope, Performance &amp;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Where does it break, how fast is it, and what do we do that prior work does not?</a:t>
            </a:r>
          </a:p>
        </p:txBody>
      </p:sp>
      <p:pic>
        <p:nvPicPr>
          <p:cNvPr id="5" name="Picture 4" descr="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3549685" cy="2240280"/>
          </a:xfrm>
          <a:prstGeom prst="rect">
            <a:avLst/>
          </a:prstGeom>
        </p:spPr>
      </p:pic>
      <p:pic>
        <p:nvPicPr>
          <p:cNvPr id="6" name="Picture 5" descr="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234440"/>
            <a:ext cx="3549685" cy="2240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234440"/>
            <a:ext cx="3108960" cy="224028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759952" y="1335024"/>
            <a:ext cx="283464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Derived hardware spec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Accuracy collapses below 24 px and is fully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recovered by 40 px — so the gate sits at 40 px.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1080p camera → covers ~7 m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B97A0B"/>
                </a:solidFill>
              </a:rPr>
              <a:t>720p camera → only ~5 m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One camera covers a classroom. This is an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engineering requirement derived from data,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not a guess.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749039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743200"/>
              </a:tblGrid>
              <a:tr h="32657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Prior work [1–5]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PresenceAI (ours)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Multi-face in one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Yes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Rejects strangers (open-set)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0.20% FAR, calibrated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Presentation attack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100% → 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Attendance-commit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Per-frame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Multi-frame vote, 0% wrong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Enrolment cost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1.4 s</a:t>
                      </a:r>
                    </a:p>
                  </a:txBody>
                  <a:tcPr/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 b="1"/>
                        <a:t>Negative result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Yes (top-2 margin)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595360" y="3749039"/>
            <a:ext cx="3108960" cy="228600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759952" y="3858768"/>
            <a:ext cx="2834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Capacity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16 faces in one frame: 1.271 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Detection costs ~200 ms fixed; each extra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face adds only ~65 ms — so it gets cheaper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per student as the room fills.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10,000 enrolled students: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+1.2 ms per match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Scale is a matrix multiply, because the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deep model is frozen.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IMPROVEMENTS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Measured before and after, on the same protocol.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76656" y="127101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Photo-attack success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C0392B"/>
                </a:solidFill>
              </a:rPr>
              <a:t>100%   ➔  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71416" y="127101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Strangers admitted (FAR)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1416" y="157276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E8E5A"/>
                </a:solidFill>
              </a:rPr>
              <a:t>0.81%   ➔   0.20%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66176" y="127101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Wrong attendance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6" y="157276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E8E5A"/>
                </a:solidFill>
              </a:rPr>
              <a:t>3.54%   ➔   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8600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6656" y="236829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Time to enrol a student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67004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E8E5A"/>
                </a:solidFill>
              </a:rPr>
              <a:t>607 s   ➔   1.4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228600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71416" y="236829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Time to mark present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67004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E8E5A"/>
                </a:solidFill>
              </a:rPr>
              <a:t>10.5 s   ➔   2.8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28600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66176" y="236829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Classes the model trains 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67004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F77C2"/>
                </a:solidFill>
              </a:rPr>
              <a:t>98   ➔   2 + 96 impostors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42B53"/>
                </a:solidFill>
              </a:rPr>
              <a:t>Also fixed along the way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3566160" cy="109728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5800" y="3803904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B97A0B"/>
                </a:solidFill>
              </a:rPr>
              <a:t>Registration never retrained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A newly registered student stayed 'Unknown' forever — the images were saved, but the model was never refit.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703320"/>
            <a:ext cx="3566160" cy="109728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80560" y="3803904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B97A0B"/>
                </a:solidFill>
              </a:rPr>
              <a:t>The API was unauthenticated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Anyone on the network could mark themselves present or delete a student. All 11 data routes now require a token.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03320"/>
            <a:ext cx="3566160" cy="109728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75320" y="3803904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B97A0B"/>
                </a:solidFill>
              </a:rPr>
              <a:t>Remote code execution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Flask ran with debug=True bound to 0.0.0.0, exposing the Werkzeug console to the entire network.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42B53"/>
                </a:solidFill>
              </a:rPr>
              <a:t>FUTURE SCOPE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39512"/>
            <a:ext cx="3566160" cy="109728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" y="534009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E8E5A"/>
                </a:solidFill>
              </a:rPr>
              <a:t>Defeat video replay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A recorded face genuinely moves, so it still passes. A depth or texture-based anti-spoof model is the next step.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239512"/>
            <a:ext cx="3566160" cy="109728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480560" y="534009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E8E5A"/>
                </a:solidFill>
              </a:rPr>
              <a:t>Enrol a real cohort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Only 2 real users today. 30+ enrolled students would let every claim be re-measured on real webcam data.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5239512"/>
            <a:ext cx="3566160" cy="109728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75320" y="534009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E8E5A"/>
                </a:solidFill>
              </a:rPr>
              <a:t>Store embeddings, not photos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A face cannot be reconstructed from a 512-d vector — a stolen database would leak nothing.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IMPACTS AND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611880" cy="214884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1399031"/>
            <a:ext cx="3319272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1F77C2"/>
                </a:solidFill>
              </a:rPr>
              <a:t>SOCIAL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~80 teaching hours returned per year (5 min × 200 days).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Contactless — no queue, no register passed around the room.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Manual proxy eliminated; photo proxy blocked (100% → 0%).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Video-replay proxy is NOT yet blocked — stated, not hidden.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280160"/>
            <a:ext cx="3611880" cy="214884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81144" y="1399031"/>
            <a:ext cx="3319272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1E8E5A"/>
                </a:solidFill>
              </a:rPr>
              <a:t>ECONOMIC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One laptop and one webcam. No GPU. No servers.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Recurring cost ≈ ₹0.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A cloud face API at ~$0.001/image, scanning continuously,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costs ≈ ₹1,50,000 per year, per 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3611880" cy="214884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3776472"/>
            <a:ext cx="3319272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C0392B"/>
                </a:solidFill>
              </a:rPr>
              <a:t>PRIVACY &amp; LEGAL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Runs fully offline. Student faces never leave the campus.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Under India's DPDP Act 2023, biometric data is sensitive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personal data — uploading children's faces to a third-party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cloud is a liability, not a feature.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657600"/>
            <a:ext cx="3611880" cy="214884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81144" y="3776472"/>
            <a:ext cx="3319272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B97A0B"/>
                </a:solidFill>
              </a:rPr>
              <a:t>TECHNICAL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Every decision exposes its evidence: similarity score,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runner-up margin, face size, liveness verdict.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A disputed attendance record can be explained.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Commercial systems are black boxes.</a:t>
            </a:r>
          </a:p>
        </p:txBody>
      </p:sp>
      <p:pic>
        <p:nvPicPr>
          <p:cNvPr id="12" name="Picture 11" descr="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794760"/>
            <a:ext cx="3423581" cy="20116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806440"/>
            <a:ext cx="11109960" cy="54864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142B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58978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42B53"/>
                </a:solidFill>
              </a:rPr>
              <a:t>Target audience — schools and colleges that cannot afford a GPU or a cloud subscription, and cannot legally upload their students' faces to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544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Attendance systems — prior work (none of which tests a presentation attack)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[1]  D'Souza, J. W. S., et al. (2019). Automated Attendance Marking and Management System by Facial Recognition Using Histogram. Array, 3–4: 100014. DOI: 10.1016/j.array.2019.100014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[2]  Arsenovic, M., Sladojevic, S., Anderla, A., Stefanovic, D. (2017). FaceTime — Deep Learning Based Face Recognition Attendance System. IEEE SISY 2017, pp. 53–58. DOI: 10.1109/SISY.2017.8080587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[3]  Kakarla, S., Gangula, P., Rahul, M. S., Singh, C. S. C., Sarma, T. H. (2020). Smart Attendance Management System Based on Face Recognition Using CNN. IEEE-HYDCON 2020. DOI: 10.1109/HYDCON48903.2020.9242847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[4]  Varadharajan, E., Dharani, R., Jeevitha, S., Kavinmathi, B., Hemalatha, S. (2016). Automatic Attendance Management System Using Face Detection. IC-GET 2016, pp. 1–3. DOI: 10.1109/GET.2016.7916753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[5]  Siswanto, A. R. S., Nugroho, A. S., Galinium, M. (2014). Implementation of Face Recognition Algorithm for Biometrics Based Time Attendance System. ICISS 2014, pp. 149–154. DOI: 10.1109/ICTSS.2014.7013165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Models we use — pretrained and frozen (not our contribution)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[6]  Deng, J., Guo, J., Xue, N., Zafeiriou, S. (2019). ArcFace: Additive Angular Margin Loss for Deep Face Recognition. CVPR 2019, pp. 4690–4699. DOI: 10.1109/CVPR.2019.00482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[7]  Deng, J., Guo, J., Ververas, E., Kotsia, I., Zafeiriou, S. (2020). RetinaFace: Single-Shot Multi-Level Face Localisation in the Wild. CVPR 2020. DOI: 10.1109/CVPR42600.2020.00525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[8]  Schroff, F., Kalenichenko, D., Philbin, J. (2015). FaceNet: A Unified Embedding for Face Recognition and Clustering. CVPR 2015, pp. 815–823. DOI: 10.1109/CVPR.2015.7298682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C0392B"/>
                </a:solidFill>
              </a:rPr>
              <a:t>Presentation attacks — the gap this project addresses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[9]   Pan, G., Sun, L., Wu, Z., Lao, S. (2007). Eyeblink-based Anti-Spoofing in Face Recognition from a Generic Webcamera. ICCV 2007, pp. 1–8. DOI: 10.1109/ICCV.2007.4409068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[10] ISO/IEC 30107-3:2023 — Information technology — Biometric presentation attack detection — Part 3: Testing and reporting.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[11] Cao, Q., Shen, L., Xie, W., Parkhi, O. M., Zisserman, A. (2018). VGGFace2: A Dataset for Recognising Faces across Pose and Age. IEEE FG 2018, pp. 67–74.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Source code, dataset and every measurement script:  github.com/SohamBhattacharjee2003/MutiFace-Attendance-System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42B53"/>
                </a:solidFill>
              </a:rPr>
              <a:t>THANK YOU</a:t>
            </a:r>
          </a:p>
          <a:p>
            <a:pPr algn="ctr"/>
            <a:r>
              <a:rPr sz="1600">
                <a:solidFill>
                  <a:srgbClr val="5B6676"/>
                </a:solidFill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