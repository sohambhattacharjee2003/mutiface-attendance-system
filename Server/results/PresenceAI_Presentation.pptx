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F3A6E"/>
                </a:solidFill>
                <a:latin typeface="Times New Roman"/>
              </a:rPr>
              <a:t>AUTOMATIC ATTENDANCE SYSTEM USING</a:t>
            </a:r>
          </a:p>
          <a:p>
            <a:pPr algn="ctr"/>
            <a:r>
              <a:rPr sz="3400" b="1">
                <a:solidFill>
                  <a:srgbClr val="1F3A6E"/>
                </a:solidFill>
                <a:latin typeface="Times New Roman"/>
              </a:rPr>
              <a:t>MULTIPLE FACE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17373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Arial"/>
              </a:rPr>
              <a:t>Problem Statement Title -  Recognition alone cannot stop proxy attendance: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C00000"/>
                </a:solidFill>
                <a:latin typeface="Arial"/>
              </a:rPr>
              <a:t>a printed photo is marked present 100% of the time.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260604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Arial"/>
              </a:rPr>
              <a:t>Team Members' Name and Roll Number -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        1. Souryadeep Deb (13000222064)            2. Soham Bhattacharya (13000222065)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        3. Srija Basak (13000222066)                4. Sneha Singh (13000222067)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Arial"/>
              </a:rPr>
              <a:t>Group Number -  18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Arial"/>
              </a:rPr>
              <a:t>Mentor Name -  Mr Prodipta Bhowmik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4983480"/>
            <a:ext cx="4206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Arial"/>
              </a:rPr>
              <a:t>Department of Information Technology</a:t>
            </a:r>
          </a:p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Arial"/>
              </a:rPr>
              <a:t>Techno Main Salt Lake</a:t>
            </a:r>
          </a:p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Arial"/>
              </a:rPr>
              <a:t>Kolkata -700091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000000"/>
                </a:solidFill>
                <a:latin typeface="Times New Roman"/>
              </a:rPr>
              <a:t>IDEA 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1F3A6E"/>
                </a:solidFill>
                <a:latin typeface="Arial"/>
              </a:rPr>
              <a:t>❖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 Detect and recognise EVERY face in one frame  (RetinaFace + ArcFace, 512-d).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 A face must pass FOUR gates — size, threshold, margin, liveness — before it gets a name.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 Attendance is committed only when 3 frames agree.  Runs offline on a laptop CPU.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1F3A6E"/>
                </a:solidFill>
                <a:latin typeface="Arial"/>
              </a:rPr>
              <a:t>❖ How it addresses the problem</a:t>
            </a:r>
          </a:p>
        </p:txBody>
      </p:sp>
      <p:pic>
        <p:nvPicPr>
          <p:cNvPr id="6" name="Picture 5" descr="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2788920"/>
            <a:ext cx="8686800" cy="20330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1F3A6E"/>
                </a:solidFill>
                <a:latin typeface="Arial"/>
              </a:rPr>
              <a:t>❖ Innovation and uniqueness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1663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C00000"/>
                </a:solidFill>
                <a:latin typeface="Arial"/>
              </a:rPr>
              <a:t>•  We do NOT claim a new face model — ArcFace is pretrained and frozen.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Liveness that works at 1.4 frames/sec, where blink detection provably fails.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Threshold calibrated on 2,880 impostor faces — not hand-picked.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Attendance treated as an irreversible commit.   Enrolment:  607 s → 1.4 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900" b="1">
                <a:solidFill>
                  <a:srgbClr val="000000"/>
                </a:solidFill>
                <a:latin typeface="Times New Roman"/>
              </a:rPr>
              <a:t>TECHNICAL APPROACH &amp; WORKFLOW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3A6E"/>
                </a:solidFill>
                <a:latin typeface="Arial"/>
              </a:rPr>
              <a:t>❖ Technologies used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234440"/>
          <a:ext cx="6858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937760"/>
              </a:tblGrid>
              <a:tr h="30861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Technology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Arial"/>
                        </a:rPr>
                        <a:t>Python 3.13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Face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Arial"/>
                        </a:rPr>
                        <a:t>RetinaFace / SCRFD (det_10g)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Recognition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Arial"/>
                        </a:rPr>
                        <a:t>ArcFace ResNet-50 (buffalo_l) → 512-d embedding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Runtime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Arial"/>
                        </a:rPr>
                        <a:t>ONNX Runtime — CPU only, NO GPU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Classifier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Arial"/>
                        </a:rPr>
                        <a:t>Linear SVM + cosine-to-centroid (scikit-learn)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Backend / Frontend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Arial"/>
                        </a:rPr>
                        <a:t>Flask REST API (token auth) · React + Vite + Tailwind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Arial"/>
                        </a:rPr>
                        <a:t>CSV + JSON on disk — no cloud, no database server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23444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1">
                <a:solidFill>
                  <a:srgbClr val="1F3A6E"/>
                </a:solidFill>
                <a:latin typeface="Arial"/>
              </a:rPr>
              <a:t>❖ The model is FROZEN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Arial"/>
              </a:rPr>
              <a:t>•  Pretrained on ~600,000 identities. It never learns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Arial"/>
              </a:rPr>
              <a:t>   "who is Soham" — it learns what makes any two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Arial"/>
              </a:rPr>
              <a:t>   faces different.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Arial"/>
              </a:rPr>
              <a:t>•  Enrolling a student = embed their photos, store the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Arial"/>
              </a:rPr>
              <a:t>   average vector (a centroid). No training. No GPU.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E7A45"/>
                </a:solidFill>
                <a:latin typeface="Arial"/>
              </a:rPr>
              <a:t>•  Embeddings cached → enrolment 607 s → 1.4 s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F3A6E"/>
                </a:solidFill>
                <a:latin typeface="Arial"/>
              </a:rPr>
              <a:t>❖ Open-set, not closed-set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Arial"/>
              </a:rPr>
              <a:t>•  Prior work:  "WHICH of my N students is this?"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Arial"/>
              </a:rPr>
              <a:t>   — a softmax MUST name someone.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Arial"/>
              </a:rPr>
              <a:t>•  Ours:  "Is this ANY of my students?"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Arial"/>
              </a:rPr>
              <a:t>   — allowed to answer "nobody".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86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3A6E"/>
                </a:solidFill>
                <a:latin typeface="Arial"/>
              </a:rPr>
              <a:t>❖ Workflow</a:t>
            </a:r>
          </a:p>
        </p:txBody>
      </p:sp>
      <p:pic>
        <p:nvPicPr>
          <p:cNvPr id="7" name="Picture 6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297680"/>
            <a:ext cx="11338560" cy="230614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900" b="1">
                <a:solidFill>
                  <a:srgbClr val="000000"/>
                </a:solidFill>
                <a:latin typeface="Times New Roman"/>
              </a:rPr>
              <a:t>TECHNICAL APPROACH — DECISION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3A6E"/>
                </a:solidFill>
                <a:latin typeface="Arial"/>
              </a:rPr>
              <a:t>❖ Four gates before a face gets a name</a:t>
            </a:r>
          </a:p>
        </p:txBody>
      </p:sp>
      <p:pic>
        <p:nvPicPr>
          <p:cNvPr id="4" name="Picture 3" descr="g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11338560" cy="24022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5204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3A6E"/>
                </a:solidFill>
                <a:latin typeface="Arial"/>
              </a:rPr>
              <a:t>❖ Then: 3 frames must agree → attendance is written  (once per day, and irreversible)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6675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1F3A6E"/>
                </a:solidFill>
                <a:latin typeface="Arial"/>
              </a:rPr>
              <a:t>❖ Liveness — why not blink detection?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•  A blink lasts 0.3 s.  We sample 1.4 frames/sec.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   We measured blink detection FAILING.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•  Instead we measure facial motion from the 106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   landmarks the detector already produces for free.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•  Rotation and scale are normalised out — so shaking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   the photo does not help the attacker.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1E7A45"/>
                </a:solidFill>
                <a:latin typeface="Arial"/>
              </a:rPr>
              <a:t>•  No extra model.  No extra compute.  No GPU.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89520" y="402336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463040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Motion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Value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Photo held up (hand-shake)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Arial"/>
                        </a:rPr>
                        <a:t>0.015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Arnab, live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Arial"/>
                        </a:rPr>
                        <a:t>0.066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Soham, live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Arial"/>
                        </a:rPr>
                        <a:t>0.135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Threshold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Arial"/>
                        </a:rPr>
                        <a:t>0.035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566928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C00000"/>
                </a:solidFill>
                <a:latin typeface="Arial"/>
              </a:rPr>
              <a:t>Protocol:  96 identities → 30 STUDENTS (70% enrol / 30% test)  +  66 STRANGERS (half calibrate / half measure the FAR).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000000"/>
                </a:solidFill>
                <a:latin typeface="Times New Roman"/>
              </a:rPr>
              <a:t>RESULTS</a:t>
            </a:r>
          </a:p>
        </p:txBody>
      </p:sp>
      <p:pic>
        <p:nvPicPr>
          <p:cNvPr id="3" name="Picture 2" descr="sp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8680"/>
            <a:ext cx="2944707" cy="2148840"/>
          </a:xfrm>
          <a:prstGeom prst="rect">
            <a:avLst/>
          </a:prstGeom>
        </p:spPr>
      </p:pic>
      <p:pic>
        <p:nvPicPr>
          <p:cNvPr id="4" name="Picture 3" descr="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868680"/>
            <a:ext cx="4138507" cy="2148840"/>
          </a:xfrm>
          <a:prstGeom prst="rect">
            <a:avLst/>
          </a:prstGeom>
        </p:spPr>
      </p:pic>
      <p:pic>
        <p:nvPicPr>
          <p:cNvPr id="5" name="Picture 4" descr="degrad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0" y="868680"/>
            <a:ext cx="3103880" cy="214884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246120"/>
          <a:ext cx="6675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554480"/>
                <a:gridCol w="1554480"/>
              </a:tblGrid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After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Photo marked present (attack success)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Arial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7A45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Strangers admitted (FAR)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Arial"/>
                        </a:rPr>
                        <a:t>0.81%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7A45"/>
                          </a:solidFill>
                          <a:latin typeface="Arial"/>
                        </a:rPr>
                        <a:t>0.20%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Wrong attendance 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Arial"/>
                        </a:rPr>
                        <a:t>3.54%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7A45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Time to enrol a student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Arial"/>
                        </a:rPr>
                        <a:t>607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7A45"/>
                          </a:solidFill>
                          <a:latin typeface="Arial"/>
                        </a:rPr>
                        <a:t>1.4 s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latin typeface="Arial"/>
                        </a:rPr>
                        <a:t>Time to mark a student present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Arial"/>
                        </a:rPr>
                        <a:t>10.5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7A45"/>
                          </a:solidFill>
                          <a:latin typeface="Arial"/>
                        </a:rPr>
                        <a:t>2.8 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3246120"/>
            <a:ext cx="4389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F3A6E"/>
                </a:solidFill>
                <a:latin typeface="Arial"/>
              </a:rPr>
              <a:t>❖ Key findings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Calibrating the threshold cut strangers admitted 4×.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Temporal voting drove wrong records to zero.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00000"/>
                </a:solidFill>
                <a:latin typeface="Arial"/>
              </a:rPr>
              <a:t>•  The top-2 margin guard did NOT help — we report it.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F3A6E"/>
                </a:solidFill>
                <a:latin typeface="Arial"/>
              </a:rPr>
              <a:t>❖ Capacity  (laptop CPU, no GPU)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16 faces in one frame:  1.271 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10,000 enrolled students:  +1.2 ms per match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One 1080p camera covers ~7 m — a whole classroom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00000"/>
                </a:solidFill>
                <a:latin typeface="Arial"/>
              </a:rPr>
              <a:t>❖ Limitation:  a VIDEO replay would still pass.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3A6E"/>
                </a:solidFill>
                <a:latin typeface="Arial"/>
              </a:rPr>
              <a:t>❖ Potential impact on the target 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80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A 60-student roll-call costs ~5 minutes of every lecture — about 80 teaching hours a year, returned.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Target: schools that cannot afford a GPU or a cloud subscription — and cannot legally upload their students' faces to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3A6E"/>
                </a:solidFill>
                <a:latin typeface="Arial"/>
              </a:rPr>
              <a:t>❖ Benefits of 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60320"/>
            <a:ext cx="73152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1F3A6E"/>
                </a:solidFill>
                <a:latin typeface="Arial"/>
              </a:rPr>
              <a:t>SOCIAL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•  Contactless — no queue, no register passed around.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•  Manual proxy eliminated.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1E7A45"/>
                </a:solidFill>
                <a:latin typeface="Arial"/>
              </a:rPr>
              <a:t>•  Photo proxy blocked:   100% → 0%.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C00000"/>
                </a:solidFill>
                <a:latin typeface="Arial"/>
              </a:rPr>
              <a:t>•  Video-replay proxy NOT yet blocked — stated, not hidden.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1F3A6E"/>
                </a:solidFill>
                <a:latin typeface="Arial"/>
              </a:rPr>
              <a:t>PRIVACY &amp; LEGAL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•  Runs fully offline — student faces never leave the campus.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•  Under India's DPDP Act 2023, biometric data is sensitive personal data.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   Uploading children's faces to a cloud is a liability, not a feature.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2560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1F3A6E"/>
                </a:solidFill>
                <a:latin typeface="Arial"/>
              </a:rPr>
              <a:t>ECONOMIC</a:t>
            </a:r>
          </a:p>
        </p:txBody>
      </p:sp>
      <p:pic>
        <p:nvPicPr>
          <p:cNvPr id="8" name="Picture 7" descr="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926080"/>
            <a:ext cx="3657600" cy="19077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0" y="49377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One laptop + one webcam.  No GPU, no servers.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7A45"/>
                </a:solidFill>
                <a:latin typeface="Arial"/>
              </a:rPr>
              <a:t>•  Recurring cost = 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1556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1F3A6E"/>
                </a:solidFill>
                <a:latin typeface="Arial"/>
              </a:rPr>
              <a:t>❖ Attendance systems — prior work (none of which tests a presentation attack)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1A1A1A"/>
                </a:solidFill>
                <a:latin typeface="Arial"/>
              </a:rPr>
              <a:t>[1]  D'Souza, J. W. S., et al. (2019). Automated Attendance Marking and Management System by Facial Recognition Using Histogram. Array, 3–4: 100014.   DOI: 10.1016/j.array.2019.100014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1A1A1A"/>
                </a:solidFill>
                <a:latin typeface="Arial"/>
              </a:rPr>
              <a:t>[2]  Arsenovic, M., et al. (2017). FaceTime — Deep Learning Based Face Recognition Attendance System. IEEE SISY 2017, pp. 53–58.   DOI: 10.1109/SISY.2017.8080587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1A1A1A"/>
                </a:solidFill>
                <a:latin typeface="Arial"/>
              </a:rPr>
              <a:t>[3]  Kakarla, S., et al. (2020). Smart Attendance Management System Based on Face Recognition Using CNN. IEEE-HYDCON 2020.   DOI: 10.1109/HYDCON48903.2020.9242847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1A1A1A"/>
                </a:solidFill>
                <a:latin typeface="Arial"/>
              </a:rPr>
              <a:t>[4]  Varadharajan, E., et al. (2016). Automatic Attendance Management System Using Face Detection. IC-GET 2016, pp. 1–3.   DOI: 10.1109/GET.2016.7916753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1A1A1A"/>
                </a:solidFill>
                <a:latin typeface="Arial"/>
              </a:rPr>
              <a:t>[5]  Siswanto, A. R. S., et al. (2014). Implementation of Face Recognition Algorithm for Biometrics Based Time Attendance System. ICISS 2014, pp. 149–154.   DOI: 10.1109/ICTSS.2014.7013165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F3A6E"/>
                </a:solidFill>
                <a:latin typeface="Arial"/>
              </a:rPr>
              <a:t>❖ Models used — pretrained and frozen (not our contribution)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1A1A1A"/>
                </a:solidFill>
                <a:latin typeface="Arial"/>
              </a:rPr>
              <a:t>[6]  Deng, J., Guo, J., Xue, N., Zafeiriou, S. (2019). ArcFace: Additive Angular Margin Loss for Deep Face Recognition. CVPR 2019, pp. 4690–4699.   DOI: 10.1109/CVPR.2019.00482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1A1A1A"/>
                </a:solidFill>
                <a:latin typeface="Arial"/>
              </a:rPr>
              <a:t>[7]  Deng, J., et al. (2020). RetinaFace: Single-Shot Multi-Level Face Localisation in the Wild. CVPR 2020.   DOI: 10.1109/CVPR42600.2020.00525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1A1A1A"/>
                </a:solidFill>
                <a:latin typeface="Arial"/>
              </a:rPr>
              <a:t>[8]  Cao, Q., et al. (2018). VGGFace2: A Dataset for Recognising Faces across Pose and Age. IEEE FG 2018, pp. 67–74.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C00000"/>
                </a:solidFill>
                <a:latin typeface="Arial"/>
              </a:rPr>
              <a:t>❖ Presentation attacks — the gap this project addresses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1A1A1A"/>
                </a:solidFill>
                <a:latin typeface="Arial"/>
              </a:rPr>
              <a:t>[9]   Pan, G., Sun, L., Wu, Z., Lao, S. (2007). Eyeblink-based Anti-Spoofing in Face Recognition from a Generic Webcamera. ICCV 2007, pp. 1–8.   DOI: 10.1109/ICCV.2007.4409068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1A1A1A"/>
                </a:solidFill>
                <a:latin typeface="Arial"/>
              </a:rPr>
              <a:t>[10] ISO/IEC 30107-3:2023 — Biometric presentation attack detection — Part 3: Testing and reporting.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F3A6E"/>
                </a:solidFill>
                <a:latin typeface="Arial"/>
              </a:rPr>
              <a:t>❖ Source code and all measurement scripts: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E7A45"/>
                </a:solidFill>
                <a:latin typeface="Arial"/>
              </a:rPr>
              <a:t>       github.com/SohamBhattacharjee2003/MutiFace-Attendance-System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