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AUTOMATIC ATTENDANCE SYSTEM USING</a:t>
            </a:r>
          </a:p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MULTIPLE FACE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1920240"/>
            <a:ext cx="9144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Team Members' Name and Roll Number-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          1. Souryadeep Deb (13000222064)              2. Soham Bhattacharya (13000222065)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          3. Srija Basak (13000222066)                  4. Sneha Singh (13000222067)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Group Number-  18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Mentor Name-  Mr Prodipta Bhowmik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502920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Department of Information Technology</a:t>
            </a:r>
          </a:p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Techno Main Salt Lake</a:t>
            </a:r>
          </a:p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Kolkata -700091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0" i="1">
                <a:solidFill>
                  <a:srgbClr val="1F3864"/>
                </a:solidFill>
                <a:latin typeface="Calibri"/>
              </a:rPr>
              <a:t>Automatic Attendance System using Multiple Face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C00000"/>
                </a:solidFill>
                <a:latin typeface="Calibri"/>
              </a:rPr>
              <a:t>Spoof-Resistant Multi-Face Attendance with Liveness-Gated Commit</a:t>
            </a:r>
          </a:p>
        </p:txBody>
      </p:sp>
      <p:pic>
        <p:nvPicPr>
          <p:cNvPr id="5" name="Picture 4" descr="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194560"/>
            <a:ext cx="8321040" cy="21218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20240" y="4846320"/>
            <a:ext cx="8321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103120" y="498348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We tested it: a printed photograph was marked present 100% of the time.</a:t>
            </a:r>
          </a:p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This project is about closing that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OBJECTIVE OF THE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77440" y="1188720"/>
            <a:ext cx="786384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606040" y="1362456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1">
                <a:solidFill>
                  <a:srgbClr val="1A1A1A"/>
                </a:solidFill>
                <a:latin typeface="Calibri"/>
              </a:rPr>
              <a:t>To detect and recognise multiple faces simultaneously in a single frame.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1536192"/>
            <a:ext cx="384048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2176272"/>
            <a:ext cx="786384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606040" y="2350008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1">
                <a:solidFill>
                  <a:srgbClr val="1A1A1A"/>
                </a:solidFill>
                <a:latin typeface="Calibri"/>
              </a:rPr>
              <a:t>To reject strangers — an open-set system that is allowed to answer "nobody".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2523744"/>
            <a:ext cx="384048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3163824"/>
            <a:ext cx="786384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06040" y="3337560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1">
                <a:solidFill>
                  <a:srgbClr val="1A1A1A"/>
                </a:solidFill>
                <a:latin typeface="Calibri"/>
              </a:rPr>
              <a:t>To resist presentation attacks: a photo or phone screen must NOT be marked present.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3511296"/>
            <a:ext cx="384048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4151376"/>
            <a:ext cx="786384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06040" y="4325112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1">
                <a:solidFill>
                  <a:srgbClr val="1A1A1A"/>
                </a:solidFill>
                <a:latin typeface="Calibri"/>
              </a:rPr>
              <a:t>To make the attendance commit reliable — it is written once a day and cannot be undone.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4498848"/>
            <a:ext cx="384048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77440" y="5138928"/>
            <a:ext cx="786384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06040" y="5312664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1">
                <a:solidFill>
                  <a:srgbClr val="1A1A1A"/>
                </a:solidFill>
                <a:latin typeface="Calibri"/>
              </a:rPr>
              <a:t>To run offline on a laptop CPU: no GPU, no cloud, no student data leaving campus.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5486400"/>
            <a:ext cx="384048" cy="45720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PROBLEM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881360" cy="868680"/>
          </a:xfrm>
          <a:prstGeom prst="roundRect">
            <a:avLst/>
          </a:prstGeom>
          <a:solidFill>
            <a:srgbClr val="B8CCE4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Traditional manual attendance is slow, error-prone and vulnerable to proxy marking —</a:t>
            </a:r>
          </a:p>
          <a:p>
            <a:pPr>
              <a:spcAft>
                <a:spcPts val="5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a 60-student roll-call costs ~5 minutes of every lecture, about 80 teaching hours a year.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0881360" cy="1371600"/>
          </a:xfrm>
          <a:prstGeom prst="roundRect">
            <a:avLst/>
          </a:prstGeom>
          <a:solidFill>
            <a:srgbClr val="F8D7D2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424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But automating it with face recognition introduces a NEW problem — and this is the gap our project addresses: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</a:rPr>
              <a:t>Face recognition is DESIGNED to give a photo of you the same embedding as you. That is exactly what makes it a good face model.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So recognition ALONE cannot prevent proxy attendance. We measured it: a printed photo was marked present 100% of the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881360" cy="2331720"/>
          </a:xfrm>
          <a:prstGeom prst="roundRect">
            <a:avLst/>
          </a:prstGeom>
          <a:solidFill>
            <a:srgbClr val="FBD5B5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104241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Four failures a real classroom deployment must survive: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 A photograph or phone screen held to the camera  →  marked present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 A stranger walking past  →  a softmax classifier has no way to say "nobody"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 A student at the back of the room  →  too few pixels to identify, but still named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 One misread frame  →  the wrong student marked present for the entire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881360" cy="7315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D'Souza et al. (2019) [1] </a:t>
            </a:r>
            <a:r>
              <a:rPr sz="1300">
                <a:solidFill>
                  <a:srgbClr val="1A1A1A"/>
                </a:solidFill>
                <a:latin typeface="Calibri"/>
              </a:rPr>
              <a:t>proposed an automated attendance system using facial recognition with histogram-based feature extraction; efficient, but sensitive to lighting and 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92807"/>
            <a:ext cx="10881360" cy="7315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98424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Arsenovic et al. (2017) [2] </a:t>
            </a:r>
            <a:r>
              <a:rPr sz="1300">
                <a:solidFill>
                  <a:srgbClr val="1A1A1A"/>
                </a:solidFill>
                <a:latin typeface="Calibri"/>
              </a:rPr>
              <a:t>applied CNN-based deep learning for face recognition, achieving higher accuracy and real-time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34056"/>
            <a:ext cx="10881360" cy="7315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825496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Kakarla et al. (2020) [3] </a:t>
            </a:r>
            <a:r>
              <a:rPr sz="1300">
                <a:solidFill>
                  <a:srgbClr val="1A1A1A"/>
                </a:solidFill>
                <a:latin typeface="Calibri"/>
              </a:rPr>
              <a:t>proposed a CNN smart attendance system recognising multiple students under moderate pose and expression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75304"/>
            <a:ext cx="10881360" cy="7315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666744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Varadharajan et al. (2016) [4] </a:t>
            </a:r>
            <a:r>
              <a:rPr sz="1300">
                <a:solidFill>
                  <a:srgbClr val="1A1A1A"/>
                </a:solidFill>
                <a:latin typeface="Calibri"/>
              </a:rPr>
              <a:t>developed a face-detection classroom attendance system; accuracy drops under occlusion and poor lighting.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16552"/>
            <a:ext cx="10881360" cy="7315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4507992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Siswanto et al. (2014) [5] </a:t>
            </a:r>
            <a:r>
              <a:rPr sz="1300">
                <a:solidFill>
                  <a:srgbClr val="1A1A1A"/>
                </a:solidFill>
                <a:latin typeface="Calibri"/>
              </a:rPr>
              <a:t>introduced face biometrics as a hygienic alternative to fingerprint attendance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10881360" cy="822960"/>
          </a:xfrm>
          <a:prstGeom prst="roundRect">
            <a:avLst/>
          </a:prstGeom>
          <a:solidFill>
            <a:srgbClr val="F8D7D2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544068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C00000"/>
                </a:solidFill>
                <a:latin typeface="Calibri"/>
              </a:rPr>
              <a:t>RESEARCH GAP —  every paper above reports one accuracy number on clean data. None test a presentation attack, none report a stranger-rejection rate, and none treat "recognised" and "marked present" as different decisions.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3464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9E2B25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640080" y="3337560"/>
            <a:ext cx="2011680" cy="411480"/>
          </a:xfrm>
          <a:prstGeom prst="rightArrow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evron 4"/>
          <p:cNvSpPr/>
          <p:nvPr/>
        </p:nvSpPr>
        <p:spPr>
          <a:xfrm>
            <a:off x="3017520" y="1097280"/>
            <a:ext cx="2651760" cy="1371600"/>
          </a:xfrm>
          <a:prstGeom prst="chevron">
            <a:avLst/>
          </a:prstGeom>
          <a:solidFill>
            <a:srgbClr val="9CB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How it Works: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261872"/>
            <a:ext cx="5852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Detects EVERY face in one frame (RetinaFace), embeds each into a 512-d vector (ArcFace),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   and matches it against each enrolled student's centroid.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Records name, confidence and status to a CSV file. Nothing leaves the machine.</a:t>
            </a:r>
          </a:p>
        </p:txBody>
      </p:sp>
      <p:sp>
        <p:nvSpPr>
          <p:cNvPr id="7" name="Chevron 6"/>
          <p:cNvSpPr/>
          <p:nvPr/>
        </p:nvSpPr>
        <p:spPr>
          <a:xfrm>
            <a:off x="3017520" y="2651760"/>
            <a:ext cx="2651760" cy="1371600"/>
          </a:xfrm>
          <a:prstGeom prst="chevron">
            <a:avLst/>
          </a:prstGeom>
          <a:solidFill>
            <a:srgbClr val="45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Problem Addressed: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816352"/>
            <a:ext cx="5852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Replaces manual attendance and eliminates the signed-register proxy.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Rejects strangers, and blocks the photo / screen proxy that defeats ordinary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   face recognition.</a:t>
            </a:r>
          </a:p>
        </p:txBody>
      </p:sp>
      <p:sp>
        <p:nvSpPr>
          <p:cNvPr id="9" name="Chevron 8"/>
          <p:cNvSpPr/>
          <p:nvPr/>
        </p:nvSpPr>
        <p:spPr>
          <a:xfrm>
            <a:off x="3017520" y="4206240"/>
            <a:ext cx="2651760" cy="1600200"/>
          </a:xfrm>
          <a:prstGeom prst="chevron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370831"/>
            <a:ext cx="5852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We do NOT claim a new face model — ArcFace is pretrained and FROZEN.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LIVENESS that works at 1.4 frames/sec, where blink detection provably fails.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Threshold calibrated on 2,880 impostor faces — not hand-picked.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Attendance as an irreversible commit.  Enrolment: 607 s → 1.4 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We also report a guard that did NOT work (top-2 margin).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EXPERIMENTAL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6309360" cy="502920"/>
          </a:xfrm>
          <a:prstGeom prst="roundRect">
            <a:avLst/>
          </a:prstGeom>
          <a:solidFill>
            <a:srgbClr val="7B5EA7"/>
          </a:solidFill>
          <a:ln w="19050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Programming Language:  Python 3.13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828800" cy="47548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Face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691640"/>
            <a:ext cx="4389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514600" y="1801368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RetinaFace / SCRFD  (det_10g)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58568"/>
            <a:ext cx="1828800" cy="47548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36829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Recognition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258568"/>
            <a:ext cx="4389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514600" y="2368296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ArcFace ResNet-50 (buffalo_l) → 512-d embedding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25496"/>
            <a:ext cx="1828800" cy="47548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935224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825496"/>
            <a:ext cx="4389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514600" y="293522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ONNX Runtime — CPU only, NO GPU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92424"/>
            <a:ext cx="1828800" cy="47548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" y="350215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Matching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392424"/>
            <a:ext cx="4389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514600" y="350215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Nearest-centroid, cosine similarity  (no classifier)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59352"/>
            <a:ext cx="1828800" cy="47548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Frontend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3959352"/>
            <a:ext cx="4389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514600" y="406908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React · Vite · TailwindCSS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26280"/>
            <a:ext cx="1828800" cy="47548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4636008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4526280"/>
            <a:ext cx="4389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514600" y="4636008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Flask REST API  (Bearer-token auth)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93208"/>
            <a:ext cx="1828800" cy="47548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520293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Storage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40" y="5093208"/>
            <a:ext cx="4389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514600" y="5202936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CSV + JSON on disk — no cloud, no database server</a:t>
            </a:r>
          </a:p>
        </p:txBody>
      </p:sp>
      <p:pic>
        <p:nvPicPr>
          <p:cNvPr id="33" name="Picture 32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005840"/>
            <a:ext cx="3886543" cy="5074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52360" y="603504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2E75B6"/>
                </a:solidFill>
                <a:latin typeface="Calibri"/>
              </a:rPr>
              <a:t>WORKFLOW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RESULTS AND ANALYSIS</a:t>
            </a:r>
          </a:p>
        </p:txBody>
      </p:sp>
      <p:pic>
        <p:nvPicPr>
          <p:cNvPr id="3" name="Picture 2" descr="sp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3073791" cy="2103120"/>
          </a:xfrm>
          <a:prstGeom prst="rect">
            <a:avLst/>
          </a:prstGeom>
        </p:spPr>
      </p:pic>
      <p:pic>
        <p:nvPicPr>
          <p:cNvPr id="4" name="Picture 3" descr="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14400"/>
            <a:ext cx="3716860" cy="2103120"/>
          </a:xfrm>
          <a:prstGeom prst="rect">
            <a:avLst/>
          </a:prstGeom>
        </p:spPr>
      </p:pic>
      <p:pic>
        <p:nvPicPr>
          <p:cNvPr id="5" name="Picture 4" descr="degra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914400"/>
            <a:ext cx="3073791" cy="210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3200400"/>
            <a:ext cx="3931920" cy="187451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Presentation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5661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A printed photo was marked present 100% of the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time by recognition alone.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With liveness — motion measured from the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detector's own landmarks — it is 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200400"/>
            <a:ext cx="3931920" cy="187451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97680" y="32918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70AD47"/>
                </a:solidFill>
                <a:latin typeface="Calibri"/>
              </a:rPr>
              <a:t>Ablation of Each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657600"/>
            <a:ext cx="35661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Calibrating the threshold cut strangers admitted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4× (0.81% → 0.20%).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Temporal voting drove wrong attendance records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to zero (3.54% → 0%).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200400"/>
            <a:ext cx="3931920" cy="187451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55279" y="32918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8064A2"/>
                </a:solidFill>
                <a:latin typeface="Calibri"/>
              </a:rPr>
              <a:t>Operating Envelope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57600"/>
            <a:ext cx="35661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Accuracy collapses below 24 px and is fully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recovered by 40 px — so faces under 40 px are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refused, not guessed at.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One 1080p camera therefore covers about 7 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800"/>
            <a:ext cx="11247120" cy="822960"/>
          </a:xfrm>
          <a:prstGeom prst="roundRect">
            <a:avLst/>
          </a:prstGeom>
          <a:solidFill>
            <a:srgbClr val="F8D7D2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Honest limitation —  a VIDEO replay of a real person would still pass, because a recorded face genuinely moves. We raise the attack cost from "print a photo" to "record and replay a video": a real gain, not a complete defence.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301752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26517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A pretrained face model is NOT an attendance system.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It fails in three measurable ways — and each one is fixable in the decision layer, not the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3017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291840"/>
            <a:ext cx="2651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C00000"/>
                </a:solidFill>
                <a:latin typeface="Calibri"/>
              </a:rPr>
              <a:t>Limitations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A video replay would still pass.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The look-alike guard is unproven.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Only 2 real users enrolled — all numbers come from the 30-identity cohort.</a:t>
            </a:r>
          </a:p>
        </p:txBody>
      </p:sp>
      <p:sp>
        <p:nvSpPr>
          <p:cNvPr id="7" name="Chevron 6"/>
          <p:cNvSpPr/>
          <p:nvPr/>
        </p:nvSpPr>
        <p:spPr>
          <a:xfrm>
            <a:off x="3794760" y="1097280"/>
            <a:ext cx="1371600" cy="1234440"/>
          </a:xfrm>
          <a:prstGeom prst="chevron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188720"/>
            <a:ext cx="63093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532120" y="1298448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Detects and identifies every face in one frame.  Enrolling a new student takes 1.4 s (was 607 s) — no retraining, no GPU.</a:t>
            </a:r>
          </a:p>
        </p:txBody>
      </p:sp>
      <p:sp>
        <p:nvSpPr>
          <p:cNvPr id="10" name="Chevron 9"/>
          <p:cNvSpPr/>
          <p:nvPr/>
        </p:nvSpPr>
        <p:spPr>
          <a:xfrm>
            <a:off x="3794760" y="2423160"/>
            <a:ext cx="1371600" cy="1234440"/>
          </a:xfrm>
          <a:prstGeom prst="chevron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Integrity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514600"/>
            <a:ext cx="63093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532120" y="2624328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Manual proxy eliminated.  Photo / screen proxy BLOCKED by liveness: attack success 100% → 0%.  Strangers admitted: 0.20%.</a:t>
            </a:r>
          </a:p>
        </p:txBody>
      </p:sp>
      <p:sp>
        <p:nvSpPr>
          <p:cNvPr id="13" name="Chevron 12"/>
          <p:cNvSpPr/>
          <p:nvPr/>
        </p:nvSpPr>
        <p:spPr>
          <a:xfrm>
            <a:off x="3794760" y="3749039"/>
            <a:ext cx="1371600" cy="1234440"/>
          </a:xfrm>
          <a:prstGeom prst="chevron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840479"/>
            <a:ext cx="63093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32120" y="3950207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Open-set rejection with a threshold calibrated on 2,880 impostor faces.  Faces under 40 px are refused, not guessed.  Wrong attendance records: 0%.</a:t>
            </a:r>
          </a:p>
        </p:txBody>
      </p:sp>
      <p:sp>
        <p:nvSpPr>
          <p:cNvPr id="16" name="Chevron 15"/>
          <p:cNvSpPr/>
          <p:nvPr/>
        </p:nvSpPr>
        <p:spPr>
          <a:xfrm>
            <a:off x="3794760" y="5074920"/>
            <a:ext cx="1371600" cy="1234440"/>
          </a:xfrm>
          <a:prstGeom prst="chevron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Efficiency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5166359"/>
            <a:ext cx="63093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32120" y="5276088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16 faces in one frame in 1.3 s on a laptop CPU.  Fully offline — no cloud, no GPU, no recurring cost.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1088136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1.  D'Souza, J. W. S., et al. (2019). Automated Attendance Marking and Management System by Facial Recognition Using Histogram. Array, 3–4: 100014.  DOI: 10.1016/j.array.2019.100014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81912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2.  Arsenovic, M., Sladojevic, S., Anderla, A., Stefanovic, D. (2017). FaceTime — Deep Learning Based Face Recognition Attendance System. IEEE SISY 2017, pp. 53–58.  DOI: 10.1109/SISY.2017.8080587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57984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3.  Kakarla, S., Gangula, P., Rahul, M. S., Singh, C. S. C., Sarma, T. H. (2020). Smart Attendance Management System Based on Face Recognition Using CNN. IEEE-HYDCON 2020, pp. 1–5.  DOI: 10.1109/HYDCON48903.2020.9242847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4.  Varadharajan, E., Dharani, R., Jeevitha, S., Kavinmathi, B., Hemalatha, S. (2016). Automatic Attendance Management System Using Face Detection. IC-GET 2016, pp. 1–3.  DOI: 10.1109/GET.2016.7916753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10128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392424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5.  Siswanto, A. R. S., Nugroho, A. S., Galinium, M. (2014). Implementation of Face Recognition Algorithm for Biometrics Based Time Attendance System. ICISS 2014, pp. 149–154.  DOI: 10.1109/ICTSS.2014.7013165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" y="3968496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C00000"/>
                </a:solidFill>
                <a:latin typeface="Calibri"/>
              </a:rPr>
              <a:t>6.  Deng, J., Guo, J., Xue, N., Zafeiriou, S. (2019). ArcFace: Additive Angular Margin Loss for Deep Face Recognition. CVPR 2019, pp. 4690–4699.  DOI: 10.1109/CVPR.2019.00482    ← the model this system uses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62272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454456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7.  Deng, J., Guo, J., Ververas, E., Kotsia, I., Zafeiriou, S. (2020). RetinaFace: Single-Shot Multi-Level Face Localisation in the Wild. CVPR 2020.  DOI: 10.1109/CVPR42600.2020.00525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38344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512064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C00000"/>
                </a:solidFill>
                <a:latin typeface="Calibri"/>
              </a:rPr>
              <a:t>8.  Pan, G., Sun, L., Wu, Z., Lao, S. (2007). Eyeblink-based Anti-Spoofing in Face Recognition from a Generic Webcamera. ICCV 2007, pp. 1–8.  DOI: 10.1109/ICCV.2007.4409068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14416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" y="56967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C00000"/>
                </a:solidFill>
                <a:latin typeface="Calibri"/>
              </a:rPr>
              <a:t>9.  ISO/IEC 30107-3:2023 — Biometric presentation attack detection — Part 3: Testing and reporting.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 i="1">
                <a:solidFill>
                  <a:srgbClr val="000000"/>
                </a:solidFill>
                <a:latin typeface="Times New Roman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19088"/>
            <a:ext cx="777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