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Helvetica Neue"/>
      <p:regular r:id="rId18"/>
      <p:bold r:id="rId19"/>
      <p:italic r:id="rId20"/>
      <p:boldItalic r:id="rId21"/>
    </p:embeddedFont>
    <p:embeddedFont>
      <p:font typeface="Oswald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EcQNtzYpkr+ycM53rDYO/19UT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FFD596-6B7C-4D7A-9750-7028601482E9}">
  <a:tblStyle styleId="{3EFFD596-6B7C-4D7A-9750-7028601482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italic.fntdata"/><Relationship Id="rId11" Type="http://schemas.openxmlformats.org/officeDocument/2006/relationships/slide" Target="slides/slide6.xml"/><Relationship Id="rId22" Type="http://schemas.openxmlformats.org/officeDocument/2006/relationships/font" Target="fonts/Oswald-regular.fntdata"/><Relationship Id="rId10" Type="http://schemas.openxmlformats.org/officeDocument/2006/relationships/slide" Target="slides/slide5.xml"/><Relationship Id="rId21" Type="http://schemas.openxmlformats.org/officeDocument/2006/relationships/font" Target="fonts/HelveticaNeue-boldItalic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Oswa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bold.fntdata"/><Relationship Id="rId6" Type="http://schemas.openxmlformats.org/officeDocument/2006/relationships/slide" Target="slides/slide1.xml"/><Relationship Id="rId18" Type="http://schemas.openxmlformats.org/officeDocument/2006/relationships/font" Target="fonts/HelveticaNeu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gif"/><Relationship Id="rId4" Type="http://schemas.openxmlformats.org/officeDocument/2006/relationships/image" Target="../media/image9.gif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87338" y="929524"/>
            <a:ext cx="11846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2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 Federated Learning Framework for Detecting Gene Variant Pathogenicity</a:t>
            </a:r>
            <a:endParaRPr b="1" sz="2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1"/>
          <p:cNvSpPr txBox="1"/>
          <p:nvPr>
            <p:ph type="ctrTitle"/>
          </p:nvPr>
        </p:nvSpPr>
        <p:spPr>
          <a:xfrm>
            <a:off x="187338" y="222662"/>
            <a:ext cx="118464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GENESIS: </a:t>
            </a:r>
            <a:r>
              <a:rPr b="1" lang="en-US" sz="3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 Evaluation System with Integrated Security</a:t>
            </a:r>
            <a:endParaRPr b="1" sz="3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92" name="Google Shape;92;p1"/>
          <p:cNvGrpSpPr/>
          <p:nvPr/>
        </p:nvGrpSpPr>
        <p:grpSpPr>
          <a:xfrm>
            <a:off x="2931750" y="1910812"/>
            <a:ext cx="6096000" cy="4743900"/>
            <a:chOff x="2931750" y="1891439"/>
            <a:chExt cx="6096000" cy="4743900"/>
          </a:xfrm>
        </p:grpSpPr>
        <p:sp>
          <p:nvSpPr>
            <p:cNvPr id="93" name="Google Shape;93;p1"/>
            <p:cNvSpPr txBox="1"/>
            <p:nvPr/>
          </p:nvSpPr>
          <p:spPr>
            <a:xfrm>
              <a:off x="2931750" y="1891439"/>
              <a:ext cx="6096000" cy="47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1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Presented by:</a:t>
              </a:r>
              <a:endParaRPr b="0" i="1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Sobhan Bose (13000222056)</a:t>
              </a:r>
              <a:endPara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Satirtha Ghosal (13000222057)</a:t>
              </a:r>
              <a:endPara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Soumya Ghosh (13000222058)</a:t>
              </a:r>
              <a:endPara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Soumik Bag (13000222059)</a:t>
              </a:r>
              <a:endPara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Group </a:t>
              </a:r>
              <a:r>
                <a:rPr b="1" i="1" lang="en-US" sz="17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15</a:t>
              </a:r>
              <a:endParaRPr b="1" i="1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1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Under the supervision of:</a:t>
              </a:r>
              <a:endParaRPr b="0" i="1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Dr. Aparajita Chowdhury</a:t>
              </a:r>
              <a:endParaRPr b="1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Department of Information Technology</a:t>
              </a:r>
              <a:endPara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Techno Main Salt Lake</a:t>
              </a:r>
              <a:endPara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Kolkata -700091</a:t>
              </a:r>
              <a:endPara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94" name="Google Shape;94;p1" title="download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8438" y="4849686"/>
              <a:ext cx="742625" cy="7426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6492312"/>
            <a:ext cx="12192000" cy="3657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>
            <p:ph type="title"/>
          </p:nvPr>
        </p:nvSpPr>
        <p:spPr>
          <a:xfrm>
            <a:off x="191550" y="184050"/>
            <a:ext cx="118089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400">
                <a:latin typeface="Helvetica Neue"/>
                <a:ea typeface="Helvetica Neue"/>
                <a:cs typeface="Helvetica Neue"/>
                <a:sym typeface="Helvetica Neue"/>
              </a:rPr>
              <a:t>PROBLEM STATEMENT</a:t>
            </a:r>
            <a:endParaRPr b="1"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" name="Google Shape;102;p2"/>
          <p:cNvSpPr txBox="1"/>
          <p:nvPr>
            <p:ph idx="12" type="sldNum"/>
          </p:nvPr>
        </p:nvSpPr>
        <p:spPr>
          <a:xfrm>
            <a:off x="9147000" y="649260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701000" y="1198414"/>
            <a:ext cx="8790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Addressing the conflict between data-driven medical research and patient privacy in genetic variant pathogenicity prediction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" name="Google Shape;104;p2"/>
          <p:cNvGrpSpPr/>
          <p:nvPr/>
        </p:nvGrpSpPr>
        <p:grpSpPr>
          <a:xfrm>
            <a:off x="5204424" y="2324143"/>
            <a:ext cx="5793361" cy="3513669"/>
            <a:chOff x="2932319" y="2138538"/>
            <a:chExt cx="6327393" cy="3837559"/>
          </a:xfrm>
        </p:grpSpPr>
        <p:grpSp>
          <p:nvGrpSpPr>
            <p:cNvPr id="105" name="Google Shape;105;p2"/>
            <p:cNvGrpSpPr/>
            <p:nvPr/>
          </p:nvGrpSpPr>
          <p:grpSpPr>
            <a:xfrm>
              <a:off x="2932319" y="2138538"/>
              <a:ext cx="6327393" cy="3837559"/>
              <a:chOff x="2014350" y="1015775"/>
              <a:chExt cx="8163325" cy="4951050"/>
            </a:xfrm>
          </p:grpSpPr>
          <p:grpSp>
            <p:nvGrpSpPr>
              <p:cNvPr id="106" name="Google Shape;106;p2"/>
              <p:cNvGrpSpPr/>
              <p:nvPr/>
            </p:nvGrpSpPr>
            <p:grpSpPr>
              <a:xfrm>
                <a:off x="2014365" y="1015775"/>
                <a:ext cx="8163310" cy="3027040"/>
                <a:chOff x="2014365" y="1936000"/>
                <a:chExt cx="8163310" cy="3027040"/>
              </a:xfrm>
            </p:grpSpPr>
            <p:grpSp>
              <p:nvGrpSpPr>
                <p:cNvPr id="107" name="Google Shape;107;p2"/>
                <p:cNvGrpSpPr/>
                <p:nvPr/>
              </p:nvGrpSpPr>
              <p:grpSpPr>
                <a:xfrm>
                  <a:off x="2014365" y="1936000"/>
                  <a:ext cx="8163310" cy="3027040"/>
                  <a:chOff x="983565" y="2729100"/>
                  <a:chExt cx="8163310" cy="3027040"/>
                </a:xfrm>
              </p:grpSpPr>
              <p:grpSp>
                <p:nvGrpSpPr>
                  <p:cNvPr id="108" name="Google Shape;108;p2"/>
                  <p:cNvGrpSpPr/>
                  <p:nvPr/>
                </p:nvGrpSpPr>
                <p:grpSpPr>
                  <a:xfrm>
                    <a:off x="983565" y="2729100"/>
                    <a:ext cx="8163310" cy="3027040"/>
                    <a:chOff x="432081" y="2729100"/>
                    <a:chExt cx="8163310" cy="3027040"/>
                  </a:xfrm>
                </p:grpSpPr>
                <p:grpSp>
                  <p:nvGrpSpPr>
                    <p:cNvPr id="109" name="Google Shape;109;p2"/>
                    <p:cNvGrpSpPr/>
                    <p:nvPr/>
                  </p:nvGrpSpPr>
                  <p:grpSpPr>
                    <a:xfrm>
                      <a:off x="432081" y="2770240"/>
                      <a:ext cx="3762900" cy="2985900"/>
                      <a:chOff x="432081" y="2770240"/>
                      <a:chExt cx="3762900" cy="2985900"/>
                    </a:xfrm>
                  </p:grpSpPr>
                  <p:sp>
                    <p:nvSpPr>
                      <p:cNvPr id="110" name="Google Shape;110;p2"/>
                      <p:cNvSpPr/>
                      <p:nvPr/>
                    </p:nvSpPr>
                    <p:spPr>
                      <a:xfrm>
                        <a:off x="432081" y="2770240"/>
                        <a:ext cx="3762900" cy="2985900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rgbClr val="CFE2F3"/>
                      </a:solidFill>
                      <a:ln>
                        <a:noFill/>
                      </a:ln>
                    </p:spPr>
                    <p:txBody>
                      <a:bodyPr anchorCtr="0" anchor="ctr" bIns="64875" lIns="64875" spcFirstLastPara="1" rIns="64875" wrap="square" tIns="64875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993"/>
                          <a:buFont typeface="Arial"/>
                          <a:buNone/>
                        </a:pPr>
                        <a:r>
                          <a:t/>
                        </a:r>
                        <a:endParaRPr b="0" i="0" sz="993" u="none" cap="none" strike="noStrike">
                          <a:solidFill>
                            <a:srgbClr val="000000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endParaRPr>
                      </a:p>
                    </p:txBody>
                  </p:sp>
                  <p:sp>
                    <p:nvSpPr>
                      <p:cNvPr id="111" name="Google Shape;111;p2"/>
                      <p:cNvSpPr txBox="1"/>
                      <p:nvPr/>
                    </p:nvSpPr>
                    <p:spPr>
                      <a:xfrm>
                        <a:off x="637541" y="3984818"/>
                        <a:ext cx="3351900" cy="117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64875" lIns="64875" spcFirstLastPara="1" rIns="64875" wrap="square" tIns="64875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6"/>
                          <a:buFont typeface="Arial"/>
                          <a:buNone/>
                        </a:pPr>
                        <a:r>
                          <a:rPr b="0" i="0" lang="en-US" sz="1406" u="none" cap="none" strike="noStrike">
                            <a:solidFill>
                              <a:srgbClr val="000000"/>
                            </a:solidFill>
                            <a:latin typeface="Helvetica Neue"/>
                            <a:ea typeface="Helvetica Neue"/>
                            <a:cs typeface="Helvetica Neue"/>
                            <a:sym typeface="Helvetica Neue"/>
                          </a:rPr>
                          <a:t>AI models need </a:t>
                        </a:r>
                        <a:r>
                          <a:rPr b="0" i="0" lang="en-US" sz="1406" u="none" cap="none" strike="noStrike">
                            <a:solidFill>
                              <a:srgbClr val="000000"/>
                            </a:solidFill>
                            <a:highlight>
                              <a:srgbClr val="FFDA4D"/>
                            </a:highlight>
                            <a:latin typeface="Helvetica Neue"/>
                            <a:ea typeface="Helvetica Neue"/>
                            <a:cs typeface="Helvetica Neue"/>
                            <a:sym typeface="Helvetica Neue"/>
                          </a:rPr>
                          <a:t> massive diverse datasets </a:t>
                        </a:r>
                        <a:r>
                          <a:rPr b="0" i="0" lang="en-US" sz="1406" u="none" cap="none" strike="noStrike">
                            <a:solidFill>
                              <a:srgbClr val="000000"/>
                            </a:solidFill>
                            <a:latin typeface="Helvetica Neue"/>
                            <a:ea typeface="Helvetica Neue"/>
                            <a:cs typeface="Helvetica Neue"/>
                            <a:sym typeface="Helvetica Neue"/>
                          </a:rPr>
                          <a:t> to learn effectively and make breakthroughs.</a:t>
                        </a:r>
                        <a:endParaRPr b="0" i="0" sz="1406" u="none" cap="none" strike="noStrike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endParaRPr>
                      </a:p>
                    </p:txBody>
                  </p:sp>
                </p:grpSp>
                <p:sp>
                  <p:nvSpPr>
                    <p:cNvPr id="112" name="Google Shape;112;p2"/>
                    <p:cNvSpPr/>
                    <p:nvPr/>
                  </p:nvSpPr>
                  <p:spPr>
                    <a:xfrm>
                      <a:off x="4420291" y="2729100"/>
                      <a:ext cx="4175100" cy="2985900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CFE2F3"/>
                    </a:solidFill>
                    <a:ln>
                      <a:noFill/>
                    </a:ln>
                  </p:spPr>
                  <p:txBody>
                    <a:bodyPr anchorCtr="0" anchor="ctr" bIns="64875" lIns="64875" spcFirstLastPara="1" rIns="64875" wrap="square" tIns="64875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93"/>
                        <a:buFont typeface="Arial"/>
                        <a:buNone/>
                      </a:pPr>
                      <a:r>
                        <a:t/>
                      </a:r>
                      <a:endParaRPr b="0" i="0" sz="993" u="none" cap="none" strike="noStrike">
                        <a:solidFill>
                          <a:srgbClr val="000000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p:txBody>
                </p:sp>
              </p:grpSp>
              <p:sp>
                <p:nvSpPr>
                  <p:cNvPr id="113" name="Google Shape;113;p2"/>
                  <p:cNvSpPr txBox="1"/>
                  <p:nvPr/>
                </p:nvSpPr>
                <p:spPr>
                  <a:xfrm>
                    <a:off x="5326820" y="4045707"/>
                    <a:ext cx="3465000" cy="1175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64875" lIns="64875" spcFirstLastPara="1" rIns="64875" wrap="square" tIns="648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6"/>
                      <a:buFont typeface="Arial"/>
                      <a:buNone/>
                    </a:pPr>
                    <a:r>
                      <a:rPr b="0" i="0" lang="en-US" sz="1406" u="none" cap="none" strike="noStrike">
                        <a:solidFill>
                          <a:srgbClr val="0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rPr>
                      <a:t>Strict privacy regulations create </a:t>
                    </a:r>
                    <a:r>
                      <a:rPr b="0" i="0" lang="en-US" sz="1406" u="none" cap="none" strike="noStrike">
                        <a:solidFill>
                          <a:srgbClr val="000000"/>
                        </a:solidFill>
                        <a:highlight>
                          <a:srgbClr val="FFDA4D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rPr>
                      <a:t>data silos</a:t>
                    </a:r>
                    <a:r>
                      <a:rPr b="0" i="0" lang="en-US" sz="1406" u="none" cap="none" strike="noStrike">
                        <a:solidFill>
                          <a:srgbClr val="0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rPr>
                      <a:t>, preventing the aggregation of genomic data</a:t>
                    </a:r>
                    <a:endParaRPr b="0" i="0" sz="1406" u="none" cap="none" strike="noStrike">
                      <a:solidFill>
                        <a:srgbClr val="000000"/>
                      </a:solidFill>
                      <a:latin typeface="Helvetica Neue"/>
                      <a:ea typeface="Helvetica Neue"/>
                      <a:cs typeface="Helvetica Neue"/>
                      <a:sym typeface="Helvetica Neue"/>
                    </a:endParaRPr>
                  </a:p>
                </p:txBody>
              </p:sp>
            </p:grpSp>
            <p:pic>
              <p:nvPicPr>
                <p:cNvPr descr="an illustration of a padlock and two keys (provided by Tenor)" id="114" name="Google Shape;114;p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6402629" y="2345757"/>
                  <a:ext cx="649873" cy="68407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15" name="Google Shape;115;p2"/>
              <p:cNvGrpSpPr/>
              <p:nvPr/>
            </p:nvGrpSpPr>
            <p:grpSpPr>
              <a:xfrm>
                <a:off x="2014350" y="4184525"/>
                <a:ext cx="8163300" cy="1782300"/>
                <a:chOff x="2014350" y="4184525"/>
                <a:chExt cx="8163300" cy="1782300"/>
              </a:xfrm>
            </p:grpSpPr>
            <p:sp>
              <p:nvSpPr>
                <p:cNvPr id="116" name="Google Shape;116;p2"/>
                <p:cNvSpPr/>
                <p:nvPr/>
              </p:nvSpPr>
              <p:spPr>
                <a:xfrm>
                  <a:off x="2014350" y="4184525"/>
                  <a:ext cx="8163300" cy="1782300"/>
                </a:xfrm>
                <a:prstGeom prst="wedgeRoundRectCallout">
                  <a:avLst>
                    <a:gd fmla="val -22110" name="adj1"/>
                    <a:gd fmla="val 71974" name="adj2"/>
                    <a:gd fmla="val 0" name="adj3"/>
                  </a:avLst>
                </a:prstGeom>
                <a:noFill/>
                <a:ln cap="flat" cmpd="sng" w="202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4875" lIns="64875" spcFirstLastPara="1" rIns="64875" wrap="square" tIns="648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93"/>
                    <a:buFont typeface="Arial"/>
                    <a:buNone/>
                  </a:pPr>
                  <a:r>
                    <a:t/>
                  </a:r>
                  <a:endParaRPr b="0" i="0" sz="993" u="none" cap="none" strike="noStrike">
                    <a:solidFill>
                      <a:srgbClr val="000000"/>
                    </a:solidFill>
                    <a:latin typeface="Oswald"/>
                    <a:ea typeface="Oswald"/>
                    <a:cs typeface="Oswald"/>
                    <a:sym typeface="Oswald"/>
                  </a:endParaRPr>
                </a:p>
              </p:txBody>
            </p:sp>
            <p:grpSp>
              <p:nvGrpSpPr>
                <p:cNvPr id="117" name="Google Shape;117;p2"/>
                <p:cNvGrpSpPr/>
                <p:nvPr/>
              </p:nvGrpSpPr>
              <p:grpSpPr>
                <a:xfrm>
                  <a:off x="2863378" y="4631603"/>
                  <a:ext cx="6532578" cy="839708"/>
                  <a:chOff x="2863378" y="4631603"/>
                  <a:chExt cx="6532578" cy="839708"/>
                </a:xfrm>
              </p:grpSpPr>
              <p:sp>
                <p:nvSpPr>
                  <p:cNvPr id="118" name="Google Shape;118;p2"/>
                  <p:cNvSpPr txBox="1"/>
                  <p:nvPr/>
                </p:nvSpPr>
                <p:spPr>
                  <a:xfrm>
                    <a:off x="3008356" y="4699411"/>
                    <a:ext cx="6387600" cy="7719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64875" lIns="64875" spcFirstLastPara="1" rIns="64875" wrap="square" tIns="648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606"/>
                      <a:buFont typeface="Arial"/>
                      <a:buNone/>
                    </a:pPr>
                    <a:r>
                      <a:rPr b="0" i="0" lang="en-US" sz="1606" u="none" cap="none" strike="noStrike">
                        <a:solidFill>
                          <a:srgbClr val="0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rPr>
                      <a:t>The reliance on </a:t>
                    </a:r>
                    <a:r>
                      <a:rPr b="1" i="0" lang="en-US" sz="1606" u="none" cap="none" strike="noStrike">
                        <a:solidFill>
                          <a:srgbClr val="000000"/>
                        </a:solidFill>
                        <a:highlight>
                          <a:srgbClr val="FFDA4D"/>
                        </a:highlight>
                        <a:latin typeface="Helvetica Neue"/>
                        <a:ea typeface="Helvetica Neue"/>
                        <a:cs typeface="Helvetica Neue"/>
                        <a:sym typeface="Helvetica Neue"/>
                      </a:rPr>
                      <a:t> centralized datasets </a:t>
                    </a:r>
                    <a:r>
                      <a:rPr b="0" i="0" lang="en-US" sz="1606" u="none" cap="none" strike="noStrike">
                        <a:solidFill>
                          <a:srgbClr val="0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rPr>
                      <a:t> is a primary limitation of privacy-conscious world!</a:t>
                    </a:r>
                    <a:endParaRPr b="0" i="0" sz="1606" u="none" cap="none" strike="noStrike">
                      <a:solidFill>
                        <a:srgbClr val="000000"/>
                      </a:solidFill>
                      <a:latin typeface="Helvetica Neue"/>
                      <a:ea typeface="Helvetica Neue"/>
                      <a:cs typeface="Helvetica Neue"/>
                      <a:sym typeface="Helvetica Neue"/>
                    </a:endParaRPr>
                  </a:p>
                </p:txBody>
              </p:sp>
              <p:sp>
                <p:nvSpPr>
                  <p:cNvPr id="119" name="Google Shape;119;p2"/>
                  <p:cNvSpPr/>
                  <p:nvPr/>
                </p:nvSpPr>
                <p:spPr>
                  <a:xfrm>
                    <a:off x="2863378" y="4631603"/>
                    <a:ext cx="156689" cy="164675"/>
                  </a:xfrm>
                  <a:prstGeom prst="rect">
                    <a:avLst/>
                  </a:prstGeom>
                </p:spPr>
                <p:txBody>
                  <a:bodyPr>
                    <a:prstTxWarp prst="textPlain"/>
                  </a:bodyPr>
                  <a:lstStyle/>
                  <a:p>
                    <a:pPr lvl="0" algn="ctr"/>
                    <a:r>
                      <a:rPr b="0" i="0"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solidFill>
                          <a:srgbClr val="000000"/>
                        </a:solidFill>
                        <a:latin typeface="Oswald"/>
                      </a:rPr>
                      <a:t>"</a:t>
                    </a:r>
                  </a:p>
                </p:txBody>
              </p:sp>
            </p:grpSp>
          </p:grpSp>
        </p:grpSp>
        <p:pic>
          <p:nvPicPr>
            <p:cNvPr descr="a brain with a magnifying glass attached to it 's eye (provided by Tenor)" id="120" name="Google Shape;1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77023" y="2442590"/>
              <a:ext cx="528699" cy="5286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1" name="Google Shape;12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4225" y="2324148"/>
            <a:ext cx="3887501" cy="363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/>
          <p:nvPr/>
        </p:nvSpPr>
        <p:spPr>
          <a:xfrm>
            <a:off x="0" y="6492312"/>
            <a:ext cx="12192000" cy="3657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>
            <p:ph type="title"/>
          </p:nvPr>
        </p:nvSpPr>
        <p:spPr>
          <a:xfrm>
            <a:off x="191550" y="184050"/>
            <a:ext cx="118089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400">
                <a:latin typeface="Helvetica Neue"/>
                <a:ea typeface="Helvetica Neue"/>
                <a:cs typeface="Helvetica Neue"/>
                <a:sym typeface="Helvetica Neue"/>
              </a:rPr>
              <a:t>PROPOSED SOLUTION</a:t>
            </a:r>
            <a:endParaRPr b="1"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p3"/>
          <p:cNvSpPr txBox="1"/>
          <p:nvPr>
            <p:ph idx="12" type="sldNum"/>
          </p:nvPr>
        </p:nvSpPr>
        <p:spPr>
          <a:xfrm>
            <a:off x="9147000" y="649260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1683000" y="918622"/>
            <a:ext cx="8826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1" i="0" lang="en-US" sz="1700" u="none" cap="none" strike="noStrike">
                <a:solidFill>
                  <a:schemeClr val="dk1"/>
                </a:solidFill>
                <a:highlight>
                  <a:srgbClr val="FFDA4D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novel </a:t>
            </a:r>
            <a:r>
              <a:rPr b="1" i="0" lang="en-US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full-stack framework using Federated Learning (FL) to predict the pathogenicity of Single Nucleotide Variants (SNVs)</a:t>
            </a:r>
            <a:endParaRPr b="0" i="0" sz="1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31" name="Google Shape;131;p3"/>
          <p:cNvGrpSpPr/>
          <p:nvPr/>
        </p:nvGrpSpPr>
        <p:grpSpPr>
          <a:xfrm>
            <a:off x="1761723" y="1763328"/>
            <a:ext cx="8668567" cy="2277656"/>
            <a:chOff x="1840408" y="2055300"/>
            <a:chExt cx="8668567" cy="3701700"/>
          </a:xfrm>
        </p:grpSpPr>
        <p:sp>
          <p:nvSpPr>
            <p:cNvPr id="132" name="Google Shape;132;p3"/>
            <p:cNvSpPr/>
            <p:nvPr/>
          </p:nvSpPr>
          <p:spPr>
            <a:xfrm>
              <a:off x="5613575" y="2055300"/>
              <a:ext cx="4895400" cy="3701700"/>
            </a:xfrm>
            <a:prstGeom prst="roundRect">
              <a:avLst>
                <a:gd fmla="val 16667" name="adj"/>
              </a:avLst>
            </a:prstGeom>
            <a:solidFill>
              <a:srgbClr val="D9EA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33" name="Google Shape;133;p3"/>
            <p:cNvSpPr txBox="1"/>
            <p:nvPr/>
          </p:nvSpPr>
          <p:spPr>
            <a:xfrm>
              <a:off x="5978675" y="2210656"/>
              <a:ext cx="4165200" cy="48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How does this solve the problem?</a:t>
              </a:r>
              <a:endParaRPr b="1" i="0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134" name="Google Shape;134;p3"/>
            <p:cNvCxnSpPr/>
            <p:nvPr/>
          </p:nvCxnSpPr>
          <p:spPr>
            <a:xfrm>
              <a:off x="6049925" y="2913644"/>
              <a:ext cx="4020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5" name="Google Shape;135;p3"/>
            <p:cNvSpPr txBox="1"/>
            <p:nvPr/>
          </p:nvSpPr>
          <p:spPr>
            <a:xfrm>
              <a:off x="5978675" y="3095144"/>
              <a:ext cx="4165200" cy="22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It </a:t>
              </a:r>
              <a:r>
                <a:rPr b="0" i="0" lang="en-US" sz="1400" u="none" cap="none" strike="noStrike">
                  <a:solidFill>
                    <a:schemeClr val="dk1"/>
                  </a:solidFill>
                  <a:highlight>
                    <a:srgbClr val="FFDA4D"/>
                  </a:highlight>
                  <a:latin typeface="Helvetica Neue"/>
                  <a:ea typeface="Helvetica Neue"/>
                  <a:cs typeface="Helvetica Neue"/>
                  <a:sym typeface="Helvetica Neue"/>
                </a:rPr>
                <a:t> breaks down "data silos" </a:t>
              </a:r>
              <a:r>
                <a:rPr b="0" i="0" lang="en-US" sz="14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created by strict privacy regulations (like GDPR or HIPAA), enabling models to learn from large, diverse datasets while remaining legally and ethically compliant.</a:t>
              </a:r>
              <a:endPara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grpSp>
          <p:nvGrpSpPr>
            <p:cNvPr id="136" name="Google Shape;136;p3"/>
            <p:cNvGrpSpPr/>
            <p:nvPr/>
          </p:nvGrpSpPr>
          <p:grpSpPr>
            <a:xfrm>
              <a:off x="1840408" y="2055300"/>
              <a:ext cx="3399900" cy="3701700"/>
              <a:chOff x="1389500" y="2055300"/>
              <a:chExt cx="3399900" cy="3701700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1389500" y="2055300"/>
                <a:ext cx="3399900" cy="3701700"/>
              </a:xfrm>
              <a:prstGeom prst="roundRect">
                <a:avLst>
                  <a:gd fmla="val 16667" name="adj"/>
                </a:avLst>
              </a:prstGeom>
              <a:solidFill>
                <a:srgbClr val="D9EAD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swald"/>
                  <a:ea typeface="Oswald"/>
                  <a:cs typeface="Oswald"/>
                  <a:sym typeface="Oswald"/>
                </a:endParaRPr>
              </a:p>
            </p:txBody>
          </p:sp>
          <p:cxnSp>
            <p:nvCxnSpPr>
              <p:cNvPr id="138" name="Google Shape;138;p3"/>
              <p:cNvCxnSpPr/>
              <p:nvPr/>
            </p:nvCxnSpPr>
            <p:spPr>
              <a:xfrm>
                <a:off x="1738250" y="2913643"/>
                <a:ext cx="27024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39" name="Google Shape;139;p3"/>
              <p:cNvSpPr txBox="1"/>
              <p:nvPr/>
            </p:nvSpPr>
            <p:spPr>
              <a:xfrm>
                <a:off x="1667004" y="3095046"/>
                <a:ext cx="2773800" cy="201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It allows institutions to </a:t>
                </a:r>
                <a:r>
                  <a:rPr b="0" i="0" lang="en-US" sz="1400" u="none" cap="none" strike="noStrike">
                    <a:solidFill>
                      <a:schemeClr val="dk1"/>
                    </a:solidFill>
                    <a:highlight>
                      <a:srgbClr val="FFDA4D"/>
                    </a:highlight>
                    <a:latin typeface="Helvetica Neue"/>
                    <a:ea typeface="Helvetica Neue"/>
                    <a:cs typeface="Helvetica Neue"/>
                    <a:sym typeface="Helvetica Neue"/>
                  </a:rPr>
                  <a:t> train a  global model collaboratively </a:t>
                </a:r>
                <a:r>
                  <a:rPr b="0" i="0" lang="en-US" sz="14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 without moving sensitive raw genomic data out of their secure local environments.</a:t>
                </a:r>
                <a:endParaRPr b="0" i="0" sz="14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40" name="Google Shape;140;p3"/>
              <p:cNvSpPr txBox="1"/>
              <p:nvPr/>
            </p:nvSpPr>
            <p:spPr>
              <a:xfrm>
                <a:off x="1738252" y="2223409"/>
                <a:ext cx="2844900" cy="48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r>
                  <a:rPr b="1" i="0" lang="en-US" sz="17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What can it do?</a:t>
                </a:r>
                <a:endParaRPr b="1" i="0" sz="17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</p:grpSp>
      <p:sp>
        <p:nvSpPr>
          <p:cNvPr id="141" name="Google Shape;141;p3"/>
          <p:cNvSpPr txBox="1"/>
          <p:nvPr/>
        </p:nvSpPr>
        <p:spPr>
          <a:xfrm>
            <a:off x="4445494" y="4144421"/>
            <a:ext cx="6470100" cy="22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It’s Built for Privacy and Security!</a:t>
            </a:r>
            <a:endParaRPr b="1" i="0" sz="1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highlight>
                  <a:srgbClr val="FFDA4D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Cross platform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Electron app for secure and easy user interaction.</a:t>
            </a:r>
            <a:endParaRPr b="0" i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Mutual TLS (</a:t>
            </a:r>
            <a:r>
              <a:rPr b="0" i="0" lang="en-US" sz="1400" u="none" cap="none" strike="noStrike">
                <a:solidFill>
                  <a:schemeClr val="dk1"/>
                </a:solidFill>
                <a:highlight>
                  <a:srgbClr val="FFDA4D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mTLS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for authenticated, encrypted communication.</a:t>
            </a:r>
            <a:endParaRPr b="0" i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highlight>
                  <a:srgbClr val="FFDA4D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SSL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enabled federated learning server for secure communication</a:t>
            </a:r>
            <a:endParaRPr b="0" i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Robust backend to coordinate the learning process securely.</a:t>
            </a:r>
            <a:endParaRPr b="0" i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Role-Based Access Control (</a:t>
            </a:r>
            <a:r>
              <a:rPr b="0" i="0" lang="en-US" sz="1400" u="none" cap="none" strike="noStrike">
                <a:solidFill>
                  <a:schemeClr val="dk1"/>
                </a:solidFill>
                <a:highlight>
                  <a:srgbClr val="FFDA4D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RBAC</a:t>
            </a: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 to manage user permissions.</a:t>
            </a:r>
            <a:endParaRPr b="0" i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2" name="Google Shape;14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7515" y="4359696"/>
            <a:ext cx="2927979" cy="1736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/>
          <p:nvPr/>
        </p:nvSpPr>
        <p:spPr>
          <a:xfrm>
            <a:off x="0" y="6492312"/>
            <a:ext cx="12192000" cy="3657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>
            <p:ph idx="12" type="sldNum"/>
          </p:nvPr>
        </p:nvSpPr>
        <p:spPr>
          <a:xfrm>
            <a:off x="9147000" y="649260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50" name="Google Shape;150;p4"/>
          <p:cNvSpPr txBox="1"/>
          <p:nvPr>
            <p:ph type="title"/>
          </p:nvPr>
        </p:nvSpPr>
        <p:spPr>
          <a:xfrm>
            <a:off x="191550" y="70553"/>
            <a:ext cx="118089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400">
                <a:latin typeface="Helvetica Neue"/>
                <a:ea typeface="Helvetica Neue"/>
                <a:cs typeface="Helvetica Neue"/>
                <a:sym typeface="Helvetica Neue"/>
              </a:rPr>
              <a:t>PROPOSED METHODOLOGY - Data Preparation</a:t>
            </a:r>
            <a:endParaRPr b="1"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421" y="610051"/>
            <a:ext cx="11315157" cy="5820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/>
          <p:nvPr/>
        </p:nvSpPr>
        <p:spPr>
          <a:xfrm>
            <a:off x="0" y="6492312"/>
            <a:ext cx="12192000" cy="3657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 txBox="1"/>
          <p:nvPr>
            <p:ph idx="12" type="sldNum"/>
          </p:nvPr>
        </p:nvSpPr>
        <p:spPr>
          <a:xfrm>
            <a:off x="9147000" y="649260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59" name="Google Shape;159;p5"/>
          <p:cNvSpPr txBox="1"/>
          <p:nvPr>
            <p:ph type="title"/>
          </p:nvPr>
        </p:nvSpPr>
        <p:spPr>
          <a:xfrm>
            <a:off x="191550" y="-9658"/>
            <a:ext cx="118089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400">
                <a:latin typeface="Helvetica Neue"/>
                <a:ea typeface="Helvetica Neue"/>
                <a:cs typeface="Helvetica Neue"/>
                <a:sym typeface="Helvetica Neue"/>
              </a:rPr>
              <a:t>PROPOSED METHODOLOGY - Data Partitioning</a:t>
            </a:r>
            <a:endParaRPr b="1"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0" name="Google Shape;16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2901" y="571442"/>
            <a:ext cx="8306198" cy="5851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/>
          <p:nvPr/>
        </p:nvSpPr>
        <p:spPr>
          <a:xfrm>
            <a:off x="0" y="6492312"/>
            <a:ext cx="12192000" cy="3657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 txBox="1"/>
          <p:nvPr>
            <p:ph idx="12" type="sldNum"/>
          </p:nvPr>
        </p:nvSpPr>
        <p:spPr>
          <a:xfrm>
            <a:off x="9147000" y="649260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68" name="Google Shape;168;p6"/>
          <p:cNvSpPr txBox="1"/>
          <p:nvPr>
            <p:ph type="title"/>
          </p:nvPr>
        </p:nvSpPr>
        <p:spPr>
          <a:xfrm>
            <a:off x="191550" y="152591"/>
            <a:ext cx="118089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400">
                <a:latin typeface="Helvetica Neue"/>
                <a:ea typeface="Helvetica Neue"/>
                <a:cs typeface="Helvetica Neue"/>
                <a:sym typeface="Helvetica Neue"/>
              </a:rPr>
              <a:t>SEQUENCE DIAGRAM</a:t>
            </a:r>
            <a:endParaRPr b="1"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9" name="Google Shape;169;p6"/>
          <p:cNvPicPr preferRelativeResize="0"/>
          <p:nvPr/>
        </p:nvPicPr>
        <p:blipFill rotWithShape="1">
          <a:blip r:embed="rId3">
            <a:alphaModFix/>
          </a:blip>
          <a:srcRect b="3950" l="500" r="833" t="0"/>
          <a:stretch/>
        </p:blipFill>
        <p:spPr>
          <a:xfrm>
            <a:off x="81280" y="733691"/>
            <a:ext cx="12029440" cy="5686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/>
          <p:nvPr/>
        </p:nvSpPr>
        <p:spPr>
          <a:xfrm>
            <a:off x="0" y="6492312"/>
            <a:ext cx="12192000" cy="3657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 txBox="1"/>
          <p:nvPr>
            <p:ph idx="12" type="sldNum"/>
          </p:nvPr>
        </p:nvSpPr>
        <p:spPr>
          <a:xfrm>
            <a:off x="9147000" y="649260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77" name="Google Shape;177;p7"/>
          <p:cNvSpPr txBox="1"/>
          <p:nvPr>
            <p:ph type="title"/>
          </p:nvPr>
        </p:nvSpPr>
        <p:spPr>
          <a:xfrm>
            <a:off x="191550" y="184050"/>
            <a:ext cx="118089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400">
                <a:latin typeface="Helvetica Neue"/>
                <a:ea typeface="Helvetica Neue"/>
                <a:cs typeface="Helvetica Neue"/>
                <a:sym typeface="Helvetica Neue"/>
              </a:rPr>
              <a:t>RESULTS AND ANALYSIS</a:t>
            </a:r>
            <a:endParaRPr b="1"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182850" y="964482"/>
            <a:ext cx="5576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Baseline Model:</a:t>
            </a:r>
            <a:endParaRPr b="1" i="0" sz="1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9" name="Google Shape;179;p7" title="baselin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686" y="1447388"/>
            <a:ext cx="5386732" cy="40453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0" name="Google Shape;180;p7"/>
          <p:cNvSpPr txBox="1"/>
          <p:nvPr/>
        </p:nvSpPr>
        <p:spPr>
          <a:xfrm>
            <a:off x="6331150" y="964482"/>
            <a:ext cx="5576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Comparison of ROC-AUC with MAGPIE:</a:t>
            </a:r>
            <a:endParaRPr b="1" i="0" sz="1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81" name="Google Shape;181;p7"/>
          <p:cNvGraphicFramePr/>
          <p:nvPr/>
        </p:nvGraphicFramePr>
        <p:xfrm>
          <a:off x="6435050" y="14474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{3EFFD596-6B7C-4D7A-9750-7028601482E9}</a:tableStyleId>
              </a:tblPr>
              <a:tblGrid>
                <a:gridCol w="1691475"/>
                <a:gridCol w="1691475"/>
                <a:gridCol w="1691475"/>
              </a:tblGrid>
              <a:tr h="46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GENESIS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MAGPIE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</a:tr>
              <a:tr h="572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ClinVarTrain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99.84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99.80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572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ClinVarTest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99.53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99.50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572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ClinVarRare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96.72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97.00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572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SwissProt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96.13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96.23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572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ACMG Panel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98.60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99.10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82" name="Google Shape;182;p7"/>
          <p:cNvSpPr txBox="1"/>
          <p:nvPr/>
        </p:nvSpPr>
        <p:spPr>
          <a:xfrm>
            <a:off x="1198800" y="5513925"/>
            <a:ext cx="354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71475" lIns="71475" spcFirstLastPara="1" rIns="71475" wrap="square" tIns="714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1"/>
              <a:buFont typeface="Arial"/>
              <a:buNone/>
            </a:pPr>
            <a:r>
              <a:rPr b="0" i="1" lang="en-US" sz="1251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Fig.: Performance of baseline model per epoch</a:t>
            </a:r>
            <a:endParaRPr b="0" i="1" sz="1251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6437400" y="5096500"/>
            <a:ext cx="5074500" cy="1069500"/>
          </a:xfrm>
          <a:prstGeom prst="roundRect">
            <a:avLst>
              <a:gd fmla="val 16667" name="adj"/>
            </a:avLst>
          </a:prstGeom>
          <a:solidFill>
            <a:srgbClr val="FFDE6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GENESIS is comparable and competitive when compared to MAGPIE while also maintaining patient privacy.</a:t>
            </a:r>
            <a:endParaRPr b="1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6492312"/>
            <a:ext cx="12192000" cy="3657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 txBox="1"/>
          <p:nvPr>
            <p:ph idx="12" type="sldNum"/>
          </p:nvPr>
        </p:nvSpPr>
        <p:spPr>
          <a:xfrm>
            <a:off x="9147000" y="649260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grpSp>
        <p:nvGrpSpPr>
          <p:cNvPr id="191" name="Google Shape;191;p8"/>
          <p:cNvGrpSpPr/>
          <p:nvPr/>
        </p:nvGrpSpPr>
        <p:grpSpPr>
          <a:xfrm>
            <a:off x="191475" y="1581378"/>
            <a:ext cx="11809038" cy="3695232"/>
            <a:chOff x="182850" y="1395298"/>
            <a:chExt cx="11809038" cy="3695232"/>
          </a:xfrm>
        </p:grpSpPr>
        <p:pic>
          <p:nvPicPr>
            <p:cNvPr id="192" name="Google Shape;192;p8" title="fedadam_plot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171400" y="1842530"/>
              <a:ext cx="3820488" cy="2850431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93" name="Google Shape;193;p8" title="fedavg_plot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30974" y="1842529"/>
              <a:ext cx="3820457" cy="2850431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94" name="Google Shape;194;p8" title="fedprox_plot.pn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83003" y="1842427"/>
              <a:ext cx="3528003" cy="285062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95" name="Google Shape;195;p8"/>
            <p:cNvSpPr txBox="1"/>
            <p:nvPr/>
          </p:nvSpPr>
          <p:spPr>
            <a:xfrm>
              <a:off x="1491750" y="4704429"/>
              <a:ext cx="910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1" lang="en-US" sz="1200" u="sng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FedAvg</a:t>
              </a:r>
              <a:endParaRPr b="0" i="1" sz="1200" u="sng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96" name="Google Shape;196;p8"/>
            <p:cNvSpPr txBox="1"/>
            <p:nvPr/>
          </p:nvSpPr>
          <p:spPr>
            <a:xfrm>
              <a:off x="5581049" y="4721230"/>
              <a:ext cx="1012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1" lang="en-US" sz="1200" u="sng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FedProx</a:t>
              </a:r>
              <a:endParaRPr b="0" i="1" sz="1200" u="sng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97" name="Google Shape;197;p8"/>
            <p:cNvSpPr txBox="1"/>
            <p:nvPr/>
          </p:nvSpPr>
          <p:spPr>
            <a:xfrm>
              <a:off x="9772650" y="4704430"/>
              <a:ext cx="1070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1" lang="en-US" sz="1200" u="sng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FedAdam</a:t>
              </a:r>
              <a:endParaRPr b="0" i="1" sz="1200" u="sng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98" name="Google Shape;198;p8"/>
            <p:cNvSpPr txBox="1"/>
            <p:nvPr/>
          </p:nvSpPr>
          <p:spPr>
            <a:xfrm>
              <a:off x="182850" y="1395298"/>
              <a:ext cx="6612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Comparison of Aggregation Algorithms:</a:t>
              </a:r>
              <a:endParaRPr b="1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99" name="Google Shape;199;p8"/>
          <p:cNvSpPr txBox="1"/>
          <p:nvPr>
            <p:ph type="title"/>
          </p:nvPr>
        </p:nvSpPr>
        <p:spPr>
          <a:xfrm>
            <a:off x="191550" y="184050"/>
            <a:ext cx="118089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400">
                <a:latin typeface="Helvetica Neue"/>
                <a:ea typeface="Helvetica Neue"/>
                <a:cs typeface="Helvetica Neue"/>
                <a:sym typeface="Helvetica Neue"/>
              </a:rPr>
              <a:t>RESULTS AND ANALYSIS</a:t>
            </a:r>
            <a:endParaRPr b="1"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/>
          <p:nvPr/>
        </p:nvSpPr>
        <p:spPr>
          <a:xfrm>
            <a:off x="0" y="6492312"/>
            <a:ext cx="12192000" cy="3657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 txBox="1"/>
          <p:nvPr>
            <p:ph idx="12" type="sldNum"/>
          </p:nvPr>
        </p:nvSpPr>
        <p:spPr>
          <a:xfrm>
            <a:off x="9147000" y="649260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762000" y="952500"/>
            <a:ext cx="5048400" cy="4953000"/>
          </a:xfrm>
          <a:prstGeom prst="roundRect">
            <a:avLst>
              <a:gd fmla="val 307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6381750" y="952500"/>
            <a:ext cx="5048400" cy="4953000"/>
          </a:xfrm>
          <a:prstGeom prst="roundRect">
            <a:avLst>
              <a:gd fmla="val 307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1143000" y="1238250"/>
            <a:ext cx="4286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IMPROVEMENTS MADE</a:t>
            </a:r>
            <a:endParaRPr b="1" i="0" sz="2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1143000" y="1905000"/>
            <a:ext cx="4286400" cy="1143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 txBox="1"/>
          <p:nvPr/>
        </p:nvSpPr>
        <p:spPr>
          <a:xfrm>
            <a:off x="1333500" y="2047875"/>
            <a:ext cx="3905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ROC-AUC on Orthogonal Set</a:t>
            </a:r>
            <a:endParaRPr b="1" i="0" sz="1800" u="none" cap="none" strike="noStrike">
              <a:solidFill>
                <a:srgbClr val="64748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sngStrike">
                <a:solidFill>
                  <a:srgbClr val="EF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95.34</a:t>
            </a:r>
            <a:r>
              <a:rPr b="1" i="0" lang="en-US" sz="2400" u="none" cap="none" strike="noStrike">
                <a:solidFill>
                  <a:srgbClr val="1E293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rgbClr val="6474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➔</a:t>
            </a:r>
            <a:r>
              <a:rPr b="1" i="0" lang="en-US" sz="2400" u="none" cap="none" strike="noStrike">
                <a:solidFill>
                  <a:srgbClr val="1E293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2800" u="none" cap="none" strike="noStrike">
                <a:solidFill>
                  <a:srgbClr val="22C5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96.72</a:t>
            </a:r>
            <a:endParaRPr b="1" i="0" sz="2400" u="none" cap="none" strike="noStrike">
              <a:solidFill>
                <a:srgbClr val="1E293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1143000" y="3286125"/>
            <a:ext cx="42864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1E293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Robust Client Reconnections</a:t>
            </a:r>
            <a:endParaRPr b="1" i="0" sz="1800" u="none" cap="none" strike="noStrike">
              <a:solidFill>
                <a:srgbClr val="1E293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Successfully handling reconnection scenarios utilizing an integrated Message Queue.</a:t>
            </a:r>
            <a:endParaRPr b="0" i="0" sz="1400" u="none" cap="none" strike="noStrike">
              <a:solidFill>
                <a:srgbClr val="64748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1143000" y="4524375"/>
            <a:ext cx="42864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Model Versioning</a:t>
            </a:r>
            <a:endParaRPr b="1" i="0" sz="1800" u="none" cap="none" strike="noStrike">
              <a:solidFill>
                <a:srgbClr val="1E293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Implemented systematic tracking and versioning controls for all deployed models.</a:t>
            </a:r>
            <a:endParaRPr b="0" i="0" sz="1400" u="none" cap="none" strike="noStrike">
              <a:solidFill>
                <a:srgbClr val="64748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6762750" y="1238250"/>
            <a:ext cx="4286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SCOPE</a:t>
            </a:r>
            <a:endParaRPr b="1" i="0" sz="2200" u="none" cap="none" strike="noStrike">
              <a:solidFill>
                <a:srgbClr val="0F172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5" name="Google Shape;215;p9"/>
          <p:cNvSpPr txBox="1"/>
          <p:nvPr/>
        </p:nvSpPr>
        <p:spPr>
          <a:xfrm>
            <a:off x="6762750" y="1952625"/>
            <a:ext cx="42864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1E293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Differential Privacy</a:t>
            </a:r>
            <a:endParaRPr b="1" i="0" sz="1800" u="none" cap="none" strike="noStrike">
              <a:solidFill>
                <a:srgbClr val="1E293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Integrate privacy-preserving techniques to ensure strong mathematical privacy guarantees.</a:t>
            </a:r>
            <a:endParaRPr b="0" i="0" sz="1400" u="none" cap="none" strike="noStrike">
              <a:solidFill>
                <a:srgbClr val="64748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6762750" y="3190875"/>
            <a:ext cx="42864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1E293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Support for Other Variant Types</a:t>
            </a:r>
            <a:endParaRPr b="1" i="0" sz="1800" u="none" cap="none" strike="noStrike">
              <a:solidFill>
                <a:srgbClr val="1E293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Expand capabilities to seamlessly process and analyze diverse genetic variant formats.</a:t>
            </a:r>
            <a:endParaRPr b="0" i="0" sz="1400" u="none" cap="none" strike="noStrike">
              <a:solidFill>
                <a:srgbClr val="64748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9"/>
          <p:cNvSpPr txBox="1"/>
          <p:nvPr/>
        </p:nvSpPr>
        <p:spPr>
          <a:xfrm>
            <a:off x="6762750" y="4429125"/>
            <a:ext cx="42864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1E293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Disease-Specific Training</a:t>
            </a:r>
            <a:endParaRPr b="1" i="0" sz="1800" u="none" cap="none" strike="noStrike">
              <a:solidFill>
                <a:srgbClr val="1E293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Optimize accuracy by training localized, specialized models tailored to target diseases.</a:t>
            </a:r>
            <a:endParaRPr b="0" i="0" sz="1400" u="none" cap="none" strike="noStrike">
              <a:solidFill>
                <a:srgbClr val="64748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descr="Lock with solid fill" id="218" name="Google Shape;218;p9"/>
          <p:cNvSpPr/>
          <p:nvPr/>
        </p:nvSpPr>
        <p:spPr>
          <a:xfrm>
            <a:off x="6695440" y="2132105"/>
            <a:ext cx="380179" cy="380179"/>
          </a:xfrm>
          <a:prstGeom prst="rect">
            <a:avLst/>
          </a:prstGeom>
          <a:noFill/>
          <a:ln>
            <a:noFill/>
          </a:ln>
        </p:spPr>
      </p:sp>
      <p:sp>
        <p:nvSpPr>
          <p:cNvPr descr="DNA with solid fill" id="219" name="Google Shape;219;p9"/>
          <p:cNvSpPr/>
          <p:nvPr/>
        </p:nvSpPr>
        <p:spPr>
          <a:xfrm rot="-1980413">
            <a:off x="6747205" y="3441223"/>
            <a:ext cx="292643" cy="292643"/>
          </a:xfrm>
          <a:prstGeom prst="rect">
            <a:avLst/>
          </a:prstGeom>
          <a:noFill/>
          <a:ln>
            <a:noFill/>
          </a:ln>
        </p:spPr>
      </p:sp>
      <p:sp>
        <p:nvSpPr>
          <p:cNvPr descr="Head with gears with solid fill" id="220" name="Google Shape;220;p9"/>
          <p:cNvSpPr/>
          <p:nvPr/>
        </p:nvSpPr>
        <p:spPr>
          <a:xfrm>
            <a:off x="6759606" y="4662805"/>
            <a:ext cx="302931" cy="302931"/>
          </a:xfrm>
          <a:prstGeom prst="rect">
            <a:avLst/>
          </a:prstGeom>
          <a:noFill/>
          <a:ln>
            <a:noFill/>
          </a:ln>
        </p:spPr>
      </p:sp>
      <p:sp>
        <p:nvSpPr>
          <p:cNvPr descr="Bullseye with solid fill" id="221" name="Google Shape;221;p9"/>
          <p:cNvSpPr/>
          <p:nvPr/>
        </p:nvSpPr>
        <p:spPr>
          <a:xfrm>
            <a:off x="1142850" y="3563485"/>
            <a:ext cx="269240" cy="269240"/>
          </a:xfrm>
          <a:prstGeom prst="rect">
            <a:avLst/>
          </a:prstGeom>
          <a:noFill/>
          <a:ln>
            <a:noFill/>
          </a:ln>
        </p:spPr>
      </p:sp>
      <p:sp>
        <p:nvSpPr>
          <p:cNvPr descr="Bullseye with solid fill" id="222" name="Google Shape;222;p9"/>
          <p:cNvSpPr/>
          <p:nvPr/>
        </p:nvSpPr>
        <p:spPr>
          <a:xfrm>
            <a:off x="1142700" y="4651597"/>
            <a:ext cx="269240" cy="2692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"/>
          <p:cNvSpPr/>
          <p:nvPr/>
        </p:nvSpPr>
        <p:spPr>
          <a:xfrm>
            <a:off x="0" y="6492312"/>
            <a:ext cx="12192000" cy="3657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 txBox="1"/>
          <p:nvPr>
            <p:ph idx="12" type="sldNum"/>
          </p:nvPr>
        </p:nvSpPr>
        <p:spPr>
          <a:xfrm>
            <a:off x="9147000" y="649260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30" name="Google Shape;230;p10"/>
          <p:cNvSpPr txBox="1"/>
          <p:nvPr>
            <p:ph type="title"/>
          </p:nvPr>
        </p:nvSpPr>
        <p:spPr>
          <a:xfrm>
            <a:off x="191550" y="184050"/>
            <a:ext cx="118089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400">
                <a:latin typeface="Helvetica Neue"/>
                <a:ea typeface="Helvetica Neue"/>
                <a:cs typeface="Helvetica Neue"/>
                <a:sym typeface="Helvetica Neue"/>
              </a:rPr>
              <a:t>IMPACTS AND BENEFITS</a:t>
            </a:r>
            <a:endParaRPr b="1"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31" name="Google Shape;231;p10"/>
          <p:cNvGrpSpPr/>
          <p:nvPr/>
        </p:nvGrpSpPr>
        <p:grpSpPr>
          <a:xfrm>
            <a:off x="3501600" y="1926425"/>
            <a:ext cx="5188800" cy="3005150"/>
            <a:chOff x="3501600" y="1547375"/>
            <a:chExt cx="5188800" cy="3005150"/>
          </a:xfrm>
        </p:grpSpPr>
        <p:sp>
          <p:nvSpPr>
            <p:cNvPr id="232" name="Google Shape;232;p10"/>
            <p:cNvSpPr txBox="1"/>
            <p:nvPr/>
          </p:nvSpPr>
          <p:spPr>
            <a:xfrm>
              <a:off x="3501600" y="1547375"/>
              <a:ext cx="5188800" cy="13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Federated models work  with  data silos and not against them, </a:t>
              </a:r>
              <a:r>
                <a:rPr b="0" i="0" lang="en-US" sz="2200" u="none" cap="none" strike="noStrike">
                  <a:solidFill>
                    <a:schemeClr val="dk1"/>
                  </a:solidFill>
                  <a:highlight>
                    <a:srgbClr val="FFDA4D"/>
                  </a:highlight>
                  <a:latin typeface="Helvetica Neue"/>
                  <a:ea typeface="Helvetica Neue"/>
                  <a:cs typeface="Helvetica Neue"/>
                  <a:sym typeface="Helvetica Neue"/>
                </a:rPr>
                <a:t> unlocking global collaboration</a:t>
              </a:r>
              <a:r>
                <a:rPr b="0" i="0" lang="en-US" sz="2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</a:t>
              </a:r>
              <a:endParaRPr b="0" i="0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3" name="Google Shape;233;p10"/>
            <p:cNvSpPr txBox="1"/>
            <p:nvPr/>
          </p:nvSpPr>
          <p:spPr>
            <a:xfrm>
              <a:off x="3501600" y="3249625"/>
              <a:ext cx="5188800" cy="13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Faster diagnosis, better patient outcomes and an era of collaborative science that respects </a:t>
              </a:r>
              <a:r>
                <a:rPr b="0" i="0" lang="en-US" sz="2200" u="none" cap="none" strike="noStrike">
                  <a:solidFill>
                    <a:schemeClr val="dk1"/>
                  </a:solidFill>
                  <a:highlight>
                    <a:srgbClr val="FFDA4D"/>
                  </a:highlight>
                  <a:latin typeface="Helvetica Neue"/>
                  <a:ea typeface="Helvetica Neue"/>
                  <a:cs typeface="Helvetica Neue"/>
                  <a:sym typeface="Helvetica Neue"/>
                </a:rPr>
                <a:t>privacy</a:t>
              </a:r>
              <a:r>
                <a:rPr b="0" i="0" lang="en-US" sz="2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!</a:t>
              </a:r>
              <a:endParaRPr b="0" i="0" sz="2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"/>
          <p:cNvSpPr/>
          <p:nvPr/>
        </p:nvSpPr>
        <p:spPr>
          <a:xfrm>
            <a:off x="0" y="6492312"/>
            <a:ext cx="12192000" cy="3657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 txBox="1"/>
          <p:nvPr>
            <p:ph idx="12" type="sldNum"/>
          </p:nvPr>
        </p:nvSpPr>
        <p:spPr>
          <a:xfrm>
            <a:off x="9147000" y="649260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41" name="Google Shape;241;p11"/>
          <p:cNvSpPr txBox="1"/>
          <p:nvPr>
            <p:ph type="title"/>
          </p:nvPr>
        </p:nvSpPr>
        <p:spPr>
          <a:xfrm>
            <a:off x="191550" y="184050"/>
            <a:ext cx="118089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400">
                <a:latin typeface="Helvetica Neue"/>
                <a:ea typeface="Helvetica Neue"/>
                <a:cs typeface="Helvetica Neue"/>
                <a:sym typeface="Helvetica Neue"/>
              </a:rPr>
              <a:t>REFERENCES</a:t>
            </a:r>
            <a:endParaRPr b="1"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2" name="Google Shape;242;p11"/>
          <p:cNvSpPr txBox="1"/>
          <p:nvPr/>
        </p:nvSpPr>
        <p:spPr>
          <a:xfrm>
            <a:off x="100050" y="664050"/>
            <a:ext cx="1199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1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191550" y="894212"/>
            <a:ext cx="11808900" cy="57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just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Auton A et al., A global reference for human genetic variation. </a:t>
            </a:r>
            <a:r>
              <a:rPr b="0" i="1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Nature</a:t>
            </a: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526:68, 10 2015.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Sue Richards et al., Standards and guidelines for the interpretation of sequence variants: A joint consensus recommendation of the american college of medical genetics and genomics and the association for molecular pathology.</a:t>
            </a:r>
            <a:r>
              <a:rPr b="0" i="1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Genetics in medicine: official journal of the American College of Medical Genetics</a:t>
            </a: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17, 03 2015.                                              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Pauline C. Ng and Steven Henikoff. Sift: predicting amino acid changes that affect protein function. </a:t>
            </a:r>
            <a:r>
              <a:rPr b="0" i="1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Nucleic Acids Research</a:t>
            </a: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31(13):3812–3814, 07 2003.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Ivan A Adzhubei, Steffen Schmidt, Leonid Peshkin, Vasily E Ramensky, Anna Gerasimova, Peer Bork, Alexey S Kondrashov, and Shamil R Sunyaev. A method and server for predicting damaging missense mutations. </a:t>
            </a:r>
            <a:r>
              <a:rPr b="0" i="1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Nature Methods</a:t>
            </a: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7(4):248–249, 2010.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Martin Kircher, Daniela M Witten, Preti Jain, Brian J O’Roak, Gregory M Cooper, and Jay Shendure. A general framework for estimating the relative pathogenicity of human genetic variants. </a:t>
            </a:r>
            <a:r>
              <a:rPr b="0" i="1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Nature Genetics</a:t>
            </a: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46(3):310–315, 2014.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Daniel Quang, Yifei Chen, and Xiaohui Xie. Dann: a deep learning approach for annotating the pathogenicity of genetic variants. </a:t>
            </a:r>
            <a:r>
              <a:rPr b="0" i="1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Bioinformatics</a:t>
            </a: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31(5):761–763, 10 2014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Nilah M. Ioannidis et al., Revel: An ensemble method for predicting the pathogenicity of rare missense variants. The American Journal of Human Genetics, 99(4):877–885, 2016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Melissa J. Landrum et al., Clinvar: updates to support classifications of both germline and somatic variants. </a:t>
            </a:r>
            <a:r>
              <a:rPr b="0" i="1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Nucleic Acids Research</a:t>
            </a: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53(D1):D1313–D1321, 2025.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Najmeh Alirezaie, Kristin D. Kernohan, Taila Hartley, Jacek Majewski, and Toby Dylan Hocking. Clinpred: Prediction tool to identify disease-relevant nonsynonymous single-nucleotide variants. </a:t>
            </a:r>
            <a:r>
              <a:rPr b="0" i="1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American Journal of Human Genetics</a:t>
            </a: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103(4):474–483, 2018.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Yicheng Liu, Tianyun Zhang, Ningyuan You, Sai Wu, and Ning Shen. Magpie: accurate pathogenic prediction for multiple variant types using machine learning approach. </a:t>
            </a:r>
            <a:r>
              <a:rPr b="0" i="1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Genome Medicine</a:t>
            </a: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16, 01 2024.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Brendan McMahan, Eider Moore, Daniel Ramage, Seth Hampson, and Blaise Aguera y Arcas. Communication-Efficient Learning of Deep Networks from Decentralized Data. In Aarti Singh and Jerry Zhu, editors, </a:t>
            </a:r>
            <a:r>
              <a:rPr b="0" i="1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Proceedings of the 20th International Conference on Artificial Intelligence and Statistics</a:t>
            </a: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volume 54 of </a:t>
            </a:r>
            <a:r>
              <a:rPr b="0" i="1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Proceedings of Machine Learning Research</a:t>
            </a: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pages 1273–1282. PMLR, 20– 22 Apr 2017.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Felix Sattler, Simon Wiedemann, Klaus-Robert Muller, and Wojciech Samek.  Robust and communication-efficient federated learning from non-iid data, 2019.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Tian Li, Anit Kumar Sahu, Manzil Zaheer, Maziar Sanjabi, Ameet Talwalkar, and Virginia Smith. Federated optimization in heterogeneous networks, 2020.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"/>
          <p:cNvSpPr/>
          <p:nvPr/>
        </p:nvSpPr>
        <p:spPr>
          <a:xfrm>
            <a:off x="-8550" y="6492312"/>
            <a:ext cx="12192000" cy="3657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 txBox="1"/>
          <p:nvPr>
            <p:ph type="title"/>
          </p:nvPr>
        </p:nvSpPr>
        <p:spPr>
          <a:xfrm>
            <a:off x="183000" y="2755811"/>
            <a:ext cx="11808900" cy="13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5600"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b="1" sz="5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2" name="Google Shape;252;p12"/>
          <p:cNvSpPr txBox="1"/>
          <p:nvPr>
            <p:ph idx="12" type="sldNum"/>
          </p:nvPr>
        </p:nvSpPr>
        <p:spPr>
          <a:xfrm>
            <a:off x="9147000" y="649260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